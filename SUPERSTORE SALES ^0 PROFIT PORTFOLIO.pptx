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256" r:id="rId2"/>
    <p:sldId id="257" r:id="rId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FA25F7-DA6D-41BE-9A29-FBD8095FA4F8}" v="44" dt="2026-09-07T12:20:25.9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96" d="100"/>
          <a:sy n="96" d="100"/>
        </p:scale>
        <p:origin x="129"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a A" userId="158dbcc3d40972bc" providerId="LiveId" clId="{92BDB30A-1A5E-49CC-B4C4-7C23CF3515D8}"/>
    <pc:docChg chg="undo custSel modSld">
      <pc:chgData name="Manasa A" userId="158dbcc3d40972bc" providerId="LiveId" clId="{92BDB30A-1A5E-49CC-B4C4-7C23CF3515D8}" dt="2026-09-07T12:21:50.852" v="498" actId="122"/>
      <pc:docMkLst>
        <pc:docMk/>
      </pc:docMkLst>
      <pc:sldChg chg="modSp mod">
        <pc:chgData name="Manasa A" userId="158dbcc3d40972bc" providerId="LiveId" clId="{92BDB30A-1A5E-49CC-B4C4-7C23CF3515D8}" dt="2026-09-07T11:53:29.939" v="360" actId="14100"/>
        <pc:sldMkLst>
          <pc:docMk/>
          <pc:sldMk cId="612235688" sldId="256"/>
        </pc:sldMkLst>
        <pc:spChg chg="mod">
          <ac:chgData name="Manasa A" userId="158dbcc3d40972bc" providerId="LiveId" clId="{92BDB30A-1A5E-49CC-B4C4-7C23CF3515D8}" dt="2026-09-07T11:36:19.179" v="235" actId="14100"/>
          <ac:spMkLst>
            <pc:docMk/>
            <pc:sldMk cId="612235688" sldId="256"/>
            <ac:spMk id="2" creationId="{8A021C10-7D1A-6B0B-D403-802ADA2C74B0}"/>
          </ac:spMkLst>
        </pc:spChg>
        <pc:spChg chg="mod">
          <ac:chgData name="Manasa A" userId="158dbcc3d40972bc" providerId="LiveId" clId="{92BDB30A-1A5E-49CC-B4C4-7C23CF3515D8}" dt="2026-09-07T11:28:32.030" v="162" actId="14861"/>
          <ac:spMkLst>
            <pc:docMk/>
            <pc:sldMk cId="612235688" sldId="256"/>
            <ac:spMk id="4" creationId="{995DFF65-2EB3-B233-8631-98C588F86FDA}"/>
          </ac:spMkLst>
        </pc:spChg>
        <pc:spChg chg="mod">
          <ac:chgData name="Manasa A" userId="158dbcc3d40972bc" providerId="LiveId" clId="{92BDB30A-1A5E-49CC-B4C4-7C23CF3515D8}" dt="2026-09-07T11:28:38.355" v="163" actId="14861"/>
          <ac:spMkLst>
            <pc:docMk/>
            <pc:sldMk cId="612235688" sldId="256"/>
            <ac:spMk id="8" creationId="{FB446215-BC5B-B3CB-EC84-EE86DB9810AD}"/>
          </ac:spMkLst>
        </pc:spChg>
        <pc:spChg chg="mod">
          <ac:chgData name="Manasa A" userId="158dbcc3d40972bc" providerId="LiveId" clId="{92BDB30A-1A5E-49CC-B4C4-7C23CF3515D8}" dt="2026-09-07T11:28:45.961" v="164" actId="14861"/>
          <ac:spMkLst>
            <pc:docMk/>
            <pc:sldMk cId="612235688" sldId="256"/>
            <ac:spMk id="13" creationId="{B51F6D92-06C8-6E24-430E-838FC6745A90}"/>
          </ac:spMkLst>
        </pc:spChg>
        <pc:spChg chg="mod">
          <ac:chgData name="Manasa A" userId="158dbcc3d40972bc" providerId="LiveId" clId="{92BDB30A-1A5E-49CC-B4C4-7C23CF3515D8}" dt="2026-09-07T11:28:51.574" v="165" actId="14861"/>
          <ac:spMkLst>
            <pc:docMk/>
            <pc:sldMk cId="612235688" sldId="256"/>
            <ac:spMk id="14" creationId="{CC62DC82-D0C3-1428-622C-89CCA214F414}"/>
          </ac:spMkLst>
        </pc:spChg>
        <pc:spChg chg="mod">
          <ac:chgData name="Manasa A" userId="158dbcc3d40972bc" providerId="LiveId" clId="{92BDB30A-1A5E-49CC-B4C4-7C23CF3515D8}" dt="2026-09-07T11:28:56.551" v="166" actId="14861"/>
          <ac:spMkLst>
            <pc:docMk/>
            <pc:sldMk cId="612235688" sldId="256"/>
            <ac:spMk id="15" creationId="{0595A04A-1B79-CA5A-1AB9-BB460CD68F0A}"/>
          </ac:spMkLst>
        </pc:spChg>
        <pc:graphicFrameChg chg="mod">
          <ac:chgData name="Manasa A" userId="158dbcc3d40972bc" providerId="LiveId" clId="{92BDB30A-1A5E-49CC-B4C4-7C23CF3515D8}" dt="2026-09-07T11:53:17.752" v="357" actId="14100"/>
          <ac:graphicFrameMkLst>
            <pc:docMk/>
            <pc:sldMk cId="612235688" sldId="256"/>
            <ac:graphicFrameMk id="20" creationId="{BF2EE6B9-CA23-4E3D-AA05-854C1E721ACD}"/>
          </ac:graphicFrameMkLst>
        </pc:graphicFrameChg>
        <pc:graphicFrameChg chg="mod">
          <ac:chgData name="Manasa A" userId="158dbcc3d40972bc" providerId="LiveId" clId="{92BDB30A-1A5E-49CC-B4C4-7C23CF3515D8}" dt="2026-09-07T11:53:22.805" v="358" actId="14100"/>
          <ac:graphicFrameMkLst>
            <pc:docMk/>
            <pc:sldMk cId="612235688" sldId="256"/>
            <ac:graphicFrameMk id="21" creationId="{63E0E383-49D8-4499-9D60-38410F45842D}"/>
          </ac:graphicFrameMkLst>
        </pc:graphicFrameChg>
        <pc:graphicFrameChg chg="mod">
          <ac:chgData name="Manasa A" userId="158dbcc3d40972bc" providerId="LiveId" clId="{92BDB30A-1A5E-49CC-B4C4-7C23CF3515D8}" dt="2026-09-07T11:53:26.482" v="359" actId="14100"/>
          <ac:graphicFrameMkLst>
            <pc:docMk/>
            <pc:sldMk cId="612235688" sldId="256"/>
            <ac:graphicFrameMk id="23" creationId="{22727AA3-9745-41F7-9AE1-DC1FE4BE3FDC}"/>
          </ac:graphicFrameMkLst>
        </pc:graphicFrameChg>
        <pc:graphicFrameChg chg="mod">
          <ac:chgData name="Manasa A" userId="158dbcc3d40972bc" providerId="LiveId" clId="{92BDB30A-1A5E-49CC-B4C4-7C23CF3515D8}" dt="2026-09-07T11:53:29.939" v="360" actId="14100"/>
          <ac:graphicFrameMkLst>
            <pc:docMk/>
            <pc:sldMk cId="612235688" sldId="256"/>
            <ac:graphicFrameMk id="24" creationId="{1A537FC5-EB2C-4D33-AF63-1A22FFE597E8}"/>
          </ac:graphicFrameMkLst>
        </pc:graphicFrameChg>
      </pc:sldChg>
      <pc:sldChg chg="addSp delSp modSp mod">
        <pc:chgData name="Manasa A" userId="158dbcc3d40972bc" providerId="LiveId" clId="{92BDB30A-1A5E-49CC-B4C4-7C23CF3515D8}" dt="2026-09-07T12:21:50.852" v="498" actId="122"/>
        <pc:sldMkLst>
          <pc:docMk/>
          <pc:sldMk cId="1868894738" sldId="257"/>
        </pc:sldMkLst>
        <pc:spChg chg="add mod">
          <ac:chgData name="Manasa A" userId="158dbcc3d40972bc" providerId="LiveId" clId="{92BDB30A-1A5E-49CC-B4C4-7C23CF3515D8}" dt="2026-09-07T12:21:08.696" v="493" actId="1076"/>
          <ac:spMkLst>
            <pc:docMk/>
            <pc:sldMk cId="1868894738" sldId="257"/>
            <ac:spMk id="2" creationId="{93CB692D-0DDD-95FA-890E-2D4C6D7E6982}"/>
          </ac:spMkLst>
        </pc:spChg>
        <pc:spChg chg="add del mod">
          <ac:chgData name="Manasa A" userId="158dbcc3d40972bc" providerId="LiveId" clId="{92BDB30A-1A5E-49CC-B4C4-7C23CF3515D8}" dt="2026-09-07T12:19:23.179" v="472" actId="478"/>
          <ac:spMkLst>
            <pc:docMk/>
            <pc:sldMk cId="1868894738" sldId="257"/>
            <ac:spMk id="3" creationId="{B24A2FA5-8FA3-BA00-1937-6FA9E9E95AD3}"/>
          </ac:spMkLst>
        </pc:spChg>
        <pc:spChg chg="add del mod">
          <ac:chgData name="Manasa A" userId="158dbcc3d40972bc" providerId="LiveId" clId="{92BDB30A-1A5E-49CC-B4C4-7C23CF3515D8}" dt="2026-09-07T12:21:04.703" v="492" actId="1076"/>
          <ac:spMkLst>
            <pc:docMk/>
            <pc:sldMk cId="1868894738" sldId="257"/>
            <ac:spMk id="6" creationId="{EFCF2AD9-3D8C-C26F-69BC-25E6028D4588}"/>
          </ac:spMkLst>
        </pc:spChg>
        <pc:spChg chg="add del mod">
          <ac:chgData name="Manasa A" userId="158dbcc3d40972bc" providerId="LiveId" clId="{92BDB30A-1A5E-49CC-B4C4-7C23CF3515D8}" dt="2026-09-07T11:18:28.321" v="86"/>
          <ac:spMkLst>
            <pc:docMk/>
            <pc:sldMk cId="1868894738" sldId="257"/>
            <ac:spMk id="7" creationId="{A1C4C258-2F32-60F5-5BD0-64520E68F7B4}"/>
          </ac:spMkLst>
        </pc:spChg>
        <pc:spChg chg="add del mod">
          <ac:chgData name="Manasa A" userId="158dbcc3d40972bc" providerId="LiveId" clId="{92BDB30A-1A5E-49CC-B4C4-7C23CF3515D8}" dt="2026-09-07T12:18:26.338" v="461" actId="478"/>
          <ac:spMkLst>
            <pc:docMk/>
            <pc:sldMk cId="1868894738" sldId="257"/>
            <ac:spMk id="8" creationId="{5C262D96-F994-27F6-8FB5-A2D58E953502}"/>
          </ac:spMkLst>
        </pc:spChg>
        <pc:spChg chg="mod">
          <ac:chgData name="Manasa A" userId="158dbcc3d40972bc" providerId="LiveId" clId="{92BDB30A-1A5E-49CC-B4C4-7C23CF3515D8}" dt="2026-09-07T12:21:13.893" v="494" actId="1076"/>
          <ac:spMkLst>
            <pc:docMk/>
            <pc:sldMk cId="1868894738" sldId="257"/>
            <ac:spMk id="10" creationId="{15D1F7B8-2448-68A7-CE0D-F7DA608965B0}"/>
          </ac:spMkLst>
        </pc:spChg>
        <pc:spChg chg="del mod">
          <ac:chgData name="Manasa A" userId="158dbcc3d40972bc" providerId="LiveId" clId="{92BDB30A-1A5E-49CC-B4C4-7C23CF3515D8}" dt="2026-09-07T12:19:53.547" v="478" actId="478"/>
          <ac:spMkLst>
            <pc:docMk/>
            <pc:sldMk cId="1868894738" sldId="257"/>
            <ac:spMk id="12" creationId="{D61AFBAF-9B94-A424-DAEF-A745CC2FD26F}"/>
          </ac:spMkLst>
        </pc:spChg>
        <pc:spChg chg="add mod">
          <ac:chgData name="Manasa A" userId="158dbcc3d40972bc" providerId="LiveId" clId="{92BDB30A-1A5E-49CC-B4C4-7C23CF3515D8}" dt="2026-09-07T12:20:59.293" v="491" actId="1076"/>
          <ac:spMkLst>
            <pc:docMk/>
            <pc:sldMk cId="1868894738" sldId="257"/>
            <ac:spMk id="13" creationId="{EA31074B-B34E-B7CA-40D9-8F6FCE3C3D33}"/>
          </ac:spMkLst>
        </pc:spChg>
        <pc:spChg chg="add del mod">
          <ac:chgData name="Manasa A" userId="158dbcc3d40972bc" providerId="LiveId" clId="{92BDB30A-1A5E-49CC-B4C4-7C23CF3515D8}" dt="2026-09-07T12:17:28.552" v="449" actId="478"/>
          <ac:spMkLst>
            <pc:docMk/>
            <pc:sldMk cId="1868894738" sldId="257"/>
            <ac:spMk id="15" creationId="{CED18F5E-1601-0152-A56C-109073D27E72}"/>
          </ac:spMkLst>
        </pc:spChg>
        <pc:spChg chg="add mod">
          <ac:chgData name="Manasa A" userId="158dbcc3d40972bc" providerId="LiveId" clId="{92BDB30A-1A5E-49CC-B4C4-7C23CF3515D8}" dt="2026-09-07T12:21:50.852" v="498" actId="122"/>
          <ac:spMkLst>
            <pc:docMk/>
            <pc:sldMk cId="1868894738" sldId="257"/>
            <ac:spMk id="17" creationId="{42A22BD3-7781-BC42-6483-C7E6F7B79C02}"/>
          </ac:spMkLst>
        </pc:spChg>
        <pc:spChg chg="add del mod">
          <ac:chgData name="Manasa A" userId="158dbcc3d40972bc" providerId="LiveId" clId="{92BDB30A-1A5E-49CC-B4C4-7C23CF3515D8}" dt="2026-09-07T12:20:17.734" v="482" actId="478"/>
          <ac:spMkLst>
            <pc:docMk/>
            <pc:sldMk cId="1868894738" sldId="257"/>
            <ac:spMk id="19" creationId="{66DF12FA-3134-1E91-6AC6-0D2B5F8DCF29}"/>
          </ac:spMkLst>
        </pc:spChg>
        <pc:spChg chg="add del">
          <ac:chgData name="Manasa A" userId="158dbcc3d40972bc" providerId="LiveId" clId="{92BDB30A-1A5E-49CC-B4C4-7C23CF3515D8}" dt="2026-09-07T11:30:29.675" v="197" actId="22"/>
          <ac:spMkLst>
            <pc:docMk/>
            <pc:sldMk cId="1868894738" sldId="257"/>
            <ac:spMk id="21" creationId="{1E2CE9FE-0C87-EBE3-A2DC-F719ACE83FFC}"/>
          </ac:spMkLst>
        </pc:spChg>
        <pc:spChg chg="add mod">
          <ac:chgData name="Manasa A" userId="158dbcc3d40972bc" providerId="LiveId" clId="{92BDB30A-1A5E-49CC-B4C4-7C23CF3515D8}" dt="2026-09-07T12:21:27.636" v="496" actId="1076"/>
          <ac:spMkLst>
            <pc:docMk/>
            <pc:sldMk cId="1868894738" sldId="257"/>
            <ac:spMk id="24" creationId="{75958FDF-0564-48C4-3E9B-CA72A16F5919}"/>
          </ac:spMkLst>
        </pc:spChg>
        <pc:graphicFrameChg chg="mod">
          <ac:chgData name="Manasa A" userId="158dbcc3d40972bc" providerId="LiveId" clId="{92BDB30A-1A5E-49CC-B4C4-7C23CF3515D8}" dt="2026-09-07T12:21:20.193" v="495" actId="1076"/>
          <ac:graphicFrameMkLst>
            <pc:docMk/>
            <pc:sldMk cId="1868894738" sldId="257"/>
            <ac:graphicFrameMk id="4" creationId="{A9D99F77-3E58-464C-B0B8-559D24E52FA7}"/>
          </ac:graphicFrameMkLst>
        </pc:graphicFrameChg>
        <pc:graphicFrameChg chg="mod modGraphic">
          <ac:chgData name="Manasa A" userId="158dbcc3d40972bc" providerId="LiveId" clId="{92BDB30A-1A5E-49CC-B4C4-7C23CF3515D8}" dt="2026-09-07T12:08:08.946" v="361" actId="14100"/>
          <ac:graphicFrameMkLst>
            <pc:docMk/>
            <pc:sldMk cId="1868894738" sldId="257"/>
            <ac:graphicFrameMk id="9" creationId="{664892BC-E7F1-89D9-E91D-E953FA429D3A}"/>
          </ac:graphicFrameMkLst>
        </pc:graphicFrameChg>
        <pc:graphicFrameChg chg="add mod modGraphic">
          <ac:chgData name="Manasa A" userId="158dbcc3d40972bc" providerId="LiveId" clId="{92BDB30A-1A5E-49CC-B4C4-7C23CF3515D8}" dt="2026-09-07T12:15:13.048" v="428" actId="14100"/>
          <ac:graphicFrameMkLst>
            <pc:docMk/>
            <pc:sldMk cId="1868894738" sldId="257"/>
            <ac:graphicFrameMk id="22" creationId="{B1C91C56-F6B6-9BB2-110A-392832731320}"/>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158DBCC3D40972BC/Documents/SALES%20%5e0%20ROFIT%20PERFORMANCE%20DASHBOAR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158DBCC3D40972BC/Documents/SALES%20%5e0%20ROFIT%20PERFORMANCE%20DASHBOARD.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158DBCC3D40972BC/Documents/SALES%20%5e0%20ROFIT%20PERFORMANCE%20DASHBOAR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158DBCC3D40972BC/Documents/SALES%20%5e0%20ROFIT%20PERFORMANCE%20DASHBOARD.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158DBCC3D40972BC/Documents/SALES%20%5e0%20ROFIT%20PERFORMANCE%20DASHBOARD.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 ^0 ROFIT PERFORMANCE DASHBOARD.xlsx]Region Analysis!PivotTable1</c:name>
    <c:fmtId val="-1"/>
  </c:pivotSource>
  <c:chart>
    <c:title>
      <c:tx>
        <c:rich>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r>
              <a:rPr lang="en-IN" sz="1400" b="1" i="0" u="none" strike="noStrike" baseline="0" dirty="0"/>
              <a:t>Sales &amp; Profit by Region</a:t>
            </a:r>
          </a:p>
        </c:rich>
      </c:tx>
      <c:layout>
        <c:manualLayout>
          <c:xMode val="edge"/>
          <c:yMode val="edge"/>
          <c:x val="0.26728620293925404"/>
          <c:y val="4.7986394931014621E-2"/>
        </c:manualLayout>
      </c:layout>
      <c:overlay val="0"/>
      <c:spPr>
        <a:noFill/>
        <a:ln>
          <a:noFill/>
        </a:ln>
        <a:effectLst/>
      </c:spPr>
      <c:txPr>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2900704776976165E-2"/>
          <c:y val="0.29066903754983775"/>
          <c:w val="0.73822749103433805"/>
          <c:h val="0.49848346004454108"/>
        </c:manualLayout>
      </c:layout>
      <c:barChart>
        <c:barDir val="col"/>
        <c:grouping val="clustered"/>
        <c:varyColors val="0"/>
        <c:ser>
          <c:idx val="0"/>
          <c:order val="0"/>
          <c:tx>
            <c:strRef>
              <c:f>'Region Analysis'!$B$3</c:f>
              <c:strCache>
                <c:ptCount val="1"/>
                <c:pt idx="0">
                  <c:v>Sales</c:v>
                </c:pt>
              </c:strCache>
            </c:strRef>
          </c:tx>
          <c:spPr>
            <a:solidFill>
              <a:schemeClr val="accent1"/>
            </a:solidFill>
            <a:ln>
              <a:noFill/>
            </a:ln>
            <a:effectLst/>
          </c:spPr>
          <c:invertIfNegative val="0"/>
          <c:cat>
            <c:strRef>
              <c:f>'Region Analysis'!$A$4:$A$8</c:f>
              <c:strCache>
                <c:ptCount val="4"/>
                <c:pt idx="0">
                  <c:v>Central</c:v>
                </c:pt>
                <c:pt idx="1">
                  <c:v>East</c:v>
                </c:pt>
                <c:pt idx="2">
                  <c:v>South</c:v>
                </c:pt>
                <c:pt idx="3">
                  <c:v>West</c:v>
                </c:pt>
              </c:strCache>
            </c:strRef>
          </c:cat>
          <c:val>
            <c:numRef>
              <c:f>'Region Analysis'!$B$4:$B$8</c:f>
              <c:numCache>
                <c:formatCode>_-[$$-409]* #,##0.00_ ;_-[$$-409]* \-#,##0.00\ ;_-[$$-409]* "-"??_ ;_-@_ </c:formatCode>
                <c:ptCount val="4"/>
                <c:pt idx="0">
                  <c:v>501239.89080000052</c:v>
                </c:pt>
                <c:pt idx="1">
                  <c:v>678781.2399999979</c:v>
                </c:pt>
                <c:pt idx="2">
                  <c:v>391721.90500000032</c:v>
                </c:pt>
                <c:pt idx="3">
                  <c:v>725457.82450000057</c:v>
                </c:pt>
              </c:numCache>
            </c:numRef>
          </c:val>
          <c:extLst>
            <c:ext xmlns:c16="http://schemas.microsoft.com/office/drawing/2014/chart" uri="{C3380CC4-5D6E-409C-BE32-E72D297353CC}">
              <c16:uniqueId val="{00000000-909E-403E-A1D3-E6875BEA0011}"/>
            </c:ext>
          </c:extLst>
        </c:ser>
        <c:dLbls>
          <c:showLegendKey val="0"/>
          <c:showVal val="0"/>
          <c:showCatName val="0"/>
          <c:showSerName val="0"/>
          <c:showPercent val="0"/>
          <c:showBubbleSize val="0"/>
        </c:dLbls>
        <c:gapWidth val="219"/>
        <c:axId val="1433445663"/>
        <c:axId val="116156719"/>
      </c:barChart>
      <c:lineChart>
        <c:grouping val="standard"/>
        <c:varyColors val="0"/>
        <c:ser>
          <c:idx val="1"/>
          <c:order val="1"/>
          <c:tx>
            <c:strRef>
              <c:f>'Region Analysis'!$C$3</c:f>
              <c:strCache>
                <c:ptCount val="1"/>
                <c:pt idx="0">
                  <c:v>Profit</c:v>
                </c:pt>
              </c:strCache>
            </c:strRef>
          </c:tx>
          <c:spPr>
            <a:ln w="28575" cap="rnd">
              <a:solidFill>
                <a:schemeClr val="accent2"/>
              </a:solidFill>
              <a:round/>
            </a:ln>
            <a:effectLst/>
          </c:spPr>
          <c:marker>
            <c:symbol val="none"/>
          </c:marker>
          <c:cat>
            <c:strRef>
              <c:f>'Region Analysis'!$A$4:$A$8</c:f>
              <c:strCache>
                <c:ptCount val="4"/>
                <c:pt idx="0">
                  <c:v>Central</c:v>
                </c:pt>
                <c:pt idx="1">
                  <c:v>East</c:v>
                </c:pt>
                <c:pt idx="2">
                  <c:v>South</c:v>
                </c:pt>
                <c:pt idx="3">
                  <c:v>West</c:v>
                </c:pt>
              </c:strCache>
            </c:strRef>
          </c:cat>
          <c:val>
            <c:numRef>
              <c:f>'Region Analysis'!$C$4:$C$8</c:f>
              <c:numCache>
                <c:formatCode>_-[$$-409]* #,##0.00_ ;_-[$$-409]* \-#,##0.00\ ;_-[$$-409]* "-"??_ ;_-@_ </c:formatCode>
                <c:ptCount val="4"/>
                <c:pt idx="0">
                  <c:v>39706.362499999967</c:v>
                </c:pt>
                <c:pt idx="1">
                  <c:v>91522.780000000261</c:v>
                </c:pt>
                <c:pt idx="2">
                  <c:v>46749.430300000058</c:v>
                </c:pt>
                <c:pt idx="3">
                  <c:v>108418.44890000013</c:v>
                </c:pt>
              </c:numCache>
            </c:numRef>
          </c:val>
          <c:smooth val="0"/>
          <c:extLst>
            <c:ext xmlns:c16="http://schemas.microsoft.com/office/drawing/2014/chart" uri="{C3380CC4-5D6E-409C-BE32-E72D297353CC}">
              <c16:uniqueId val="{00000001-909E-403E-A1D3-E6875BEA0011}"/>
            </c:ext>
          </c:extLst>
        </c:ser>
        <c:dLbls>
          <c:showLegendKey val="0"/>
          <c:showVal val="0"/>
          <c:showCatName val="0"/>
          <c:showSerName val="0"/>
          <c:showPercent val="0"/>
          <c:showBubbleSize val="0"/>
        </c:dLbls>
        <c:marker val="1"/>
        <c:smooth val="0"/>
        <c:axId val="1696067856"/>
        <c:axId val="1148879376"/>
      </c:lineChart>
      <c:catAx>
        <c:axId val="14334456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156719"/>
        <c:crosses val="autoZero"/>
        <c:auto val="1"/>
        <c:lblAlgn val="ctr"/>
        <c:lblOffset val="100"/>
        <c:noMultiLvlLbl val="0"/>
      </c:catAx>
      <c:valAx>
        <c:axId val="116156719"/>
        <c:scaling>
          <c:orientation val="minMax"/>
        </c:scaling>
        <c:delete val="0"/>
        <c:axPos val="l"/>
        <c:numFmt formatCode="_-[$$-409]* #,##0.00_ ;_-[$$-409]* \-#,##0.00\ ;_-[$$-409]* &quot;-&quot;??_ ;_-@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3445663"/>
        <c:crosses val="autoZero"/>
        <c:crossBetween val="between"/>
      </c:valAx>
      <c:valAx>
        <c:axId val="1148879376"/>
        <c:scaling>
          <c:orientation val="minMax"/>
        </c:scaling>
        <c:delete val="0"/>
        <c:axPos val="r"/>
        <c:numFmt formatCode="_-[$$-409]* #,##0.00_ ;_-[$$-409]* \-#,##0.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6067856"/>
        <c:crosses val="max"/>
        <c:crossBetween val="between"/>
      </c:valAx>
      <c:catAx>
        <c:axId val="1696067856"/>
        <c:scaling>
          <c:orientation val="minMax"/>
        </c:scaling>
        <c:delete val="1"/>
        <c:axPos val="b"/>
        <c:numFmt formatCode="General" sourceLinked="1"/>
        <c:majorTickMark val="out"/>
        <c:minorTickMark val="none"/>
        <c:tickLblPos val="nextTo"/>
        <c:crossAx val="1148879376"/>
        <c:crosses val="autoZero"/>
        <c:auto val="1"/>
        <c:lblAlgn val="ctr"/>
        <c:lblOffset val="100"/>
        <c:noMultiLvlLbl val="0"/>
      </c:catAx>
      <c:spPr>
        <a:solidFill>
          <a:schemeClr val="lt1"/>
        </a:solidFill>
        <a:ln w="19050" cap="flat" cmpd="sng" algn="ctr">
          <a:solidFill>
            <a:schemeClr val="accent1"/>
          </a:solidFill>
          <a:prstDash val="solid"/>
          <a:miter lim="800000"/>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 ^0 ROFIT PERFORMANCE DASHBOARD.xlsx]Category Analysis!PivotTable2</c:name>
    <c:fmtId val="-1"/>
  </c:pivotSource>
  <c:chart>
    <c:title>
      <c:tx>
        <c:rich>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r>
              <a:rPr lang="en-IN" sz="1400" b="1" i="0" u="none" strike="noStrike" baseline="0" dirty="0"/>
              <a:t>Sales &amp; Profit by Category</a:t>
            </a:r>
            <a:endParaRPr lang="en-IN" b="1" dirty="0"/>
          </a:p>
        </c:rich>
      </c:tx>
      <c:layout>
        <c:manualLayout>
          <c:xMode val="edge"/>
          <c:yMode val="edge"/>
          <c:x val="0.22737792447532032"/>
          <c:y val="4.4675260107337883E-2"/>
        </c:manualLayout>
      </c:layout>
      <c:overlay val="0"/>
      <c:spPr>
        <a:noFill/>
        <a:ln>
          <a:noFill/>
        </a:ln>
        <a:effectLst/>
      </c:spPr>
      <c:txPr>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0667561571044047E-2"/>
          <c:y val="0.22341490788512114"/>
          <c:w val="0.81660812693731732"/>
          <c:h val="0.61452285210184376"/>
        </c:manualLayout>
      </c:layout>
      <c:barChart>
        <c:barDir val="col"/>
        <c:grouping val="clustered"/>
        <c:varyColors val="0"/>
        <c:ser>
          <c:idx val="0"/>
          <c:order val="0"/>
          <c:tx>
            <c:strRef>
              <c:f>'Category Analysis'!$B$3</c:f>
              <c:strCache>
                <c:ptCount val="1"/>
                <c:pt idx="0">
                  <c:v>Sales</c:v>
                </c:pt>
              </c:strCache>
            </c:strRef>
          </c:tx>
          <c:spPr>
            <a:solidFill>
              <a:schemeClr val="accent1"/>
            </a:solidFill>
            <a:ln>
              <a:noFill/>
            </a:ln>
            <a:effectLst/>
          </c:spPr>
          <c:invertIfNegative val="0"/>
          <c:cat>
            <c:strRef>
              <c:f>'Category Analysis'!$A$4:$A$7</c:f>
              <c:strCache>
                <c:ptCount val="3"/>
                <c:pt idx="0">
                  <c:v>Furniture</c:v>
                </c:pt>
                <c:pt idx="1">
                  <c:v>Office Supplies</c:v>
                </c:pt>
                <c:pt idx="2">
                  <c:v>Technology</c:v>
                </c:pt>
              </c:strCache>
            </c:strRef>
          </c:cat>
          <c:val>
            <c:numRef>
              <c:f>'Category Analysis'!$B$4:$B$7</c:f>
              <c:numCache>
                <c:formatCode>_-[$$-409]* #,##0.00_ ;_-[$$-409]* \-#,##0.00\ ;_-[$$-409]* "-"??_ ;_-@_ </c:formatCode>
                <c:ptCount val="3"/>
                <c:pt idx="0">
                  <c:v>741999.79529999977</c:v>
                </c:pt>
                <c:pt idx="1">
                  <c:v>719047.03200000292</c:v>
                </c:pt>
                <c:pt idx="2">
                  <c:v>836154.03299999656</c:v>
                </c:pt>
              </c:numCache>
            </c:numRef>
          </c:val>
          <c:extLst>
            <c:ext xmlns:c16="http://schemas.microsoft.com/office/drawing/2014/chart" uri="{C3380CC4-5D6E-409C-BE32-E72D297353CC}">
              <c16:uniqueId val="{00000000-C90C-4850-95EF-F024D2E98366}"/>
            </c:ext>
          </c:extLst>
        </c:ser>
        <c:dLbls>
          <c:showLegendKey val="0"/>
          <c:showVal val="0"/>
          <c:showCatName val="0"/>
          <c:showSerName val="0"/>
          <c:showPercent val="0"/>
          <c:showBubbleSize val="0"/>
        </c:dLbls>
        <c:gapWidth val="219"/>
        <c:axId val="21987503"/>
        <c:axId val="1767699824"/>
      </c:barChart>
      <c:lineChart>
        <c:grouping val="standard"/>
        <c:varyColors val="0"/>
        <c:ser>
          <c:idx val="1"/>
          <c:order val="1"/>
          <c:tx>
            <c:strRef>
              <c:f>'Category Analysis'!$C$3</c:f>
              <c:strCache>
                <c:ptCount val="1"/>
                <c:pt idx="0">
                  <c:v>Profit</c:v>
                </c:pt>
              </c:strCache>
            </c:strRef>
          </c:tx>
          <c:spPr>
            <a:ln w="28575" cap="rnd">
              <a:solidFill>
                <a:schemeClr val="accent2"/>
              </a:solidFill>
              <a:round/>
            </a:ln>
            <a:effectLst/>
          </c:spPr>
          <c:marker>
            <c:symbol val="none"/>
          </c:marker>
          <c:cat>
            <c:strRef>
              <c:f>'Category Analysis'!$A$4:$A$7</c:f>
              <c:strCache>
                <c:ptCount val="3"/>
                <c:pt idx="0">
                  <c:v>Furniture</c:v>
                </c:pt>
                <c:pt idx="1">
                  <c:v>Office Supplies</c:v>
                </c:pt>
                <c:pt idx="2">
                  <c:v>Technology</c:v>
                </c:pt>
              </c:strCache>
            </c:strRef>
          </c:cat>
          <c:val>
            <c:numRef>
              <c:f>'Category Analysis'!$C$4:$C$7</c:f>
              <c:numCache>
                <c:formatCode>_-[$$-409]* #,##0.00_ ;_-[$$-409]* \-#,##0.00\ ;_-[$$-409]* "-"??_ ;_-@_ </c:formatCode>
                <c:ptCount val="3"/>
                <c:pt idx="0">
                  <c:v>18451.272799999992</c:v>
                </c:pt>
                <c:pt idx="1">
                  <c:v>122490.8008000001</c:v>
                </c:pt>
                <c:pt idx="2">
                  <c:v>145454.9480999998</c:v>
                </c:pt>
              </c:numCache>
            </c:numRef>
          </c:val>
          <c:smooth val="0"/>
          <c:extLst>
            <c:ext xmlns:c16="http://schemas.microsoft.com/office/drawing/2014/chart" uri="{C3380CC4-5D6E-409C-BE32-E72D297353CC}">
              <c16:uniqueId val="{00000001-C90C-4850-95EF-F024D2E98366}"/>
            </c:ext>
          </c:extLst>
        </c:ser>
        <c:dLbls>
          <c:showLegendKey val="0"/>
          <c:showVal val="0"/>
          <c:showCatName val="0"/>
          <c:showSerName val="0"/>
          <c:showPercent val="0"/>
          <c:showBubbleSize val="0"/>
        </c:dLbls>
        <c:marker val="1"/>
        <c:smooth val="0"/>
        <c:axId val="1695950464"/>
        <c:axId val="1709822960"/>
      </c:lineChart>
      <c:catAx>
        <c:axId val="2198750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7699824"/>
        <c:crosses val="autoZero"/>
        <c:auto val="1"/>
        <c:lblAlgn val="ctr"/>
        <c:lblOffset val="100"/>
        <c:noMultiLvlLbl val="0"/>
      </c:catAx>
      <c:valAx>
        <c:axId val="1767699824"/>
        <c:scaling>
          <c:orientation val="minMax"/>
        </c:scaling>
        <c:delete val="0"/>
        <c:axPos val="l"/>
        <c:numFmt formatCode="_-[$$-409]* #,##0.00_ ;_-[$$-409]* \-#,##0.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987503"/>
        <c:crosses val="autoZero"/>
        <c:crossBetween val="between"/>
      </c:valAx>
      <c:valAx>
        <c:axId val="1709822960"/>
        <c:scaling>
          <c:orientation val="minMax"/>
        </c:scaling>
        <c:delete val="0"/>
        <c:axPos val="r"/>
        <c:numFmt formatCode="_-[$$-409]* #,##0.00_ ;_-[$$-409]* \-#,##0.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5950464"/>
        <c:crosses val="max"/>
        <c:crossBetween val="between"/>
      </c:valAx>
      <c:catAx>
        <c:axId val="1695950464"/>
        <c:scaling>
          <c:orientation val="minMax"/>
        </c:scaling>
        <c:delete val="1"/>
        <c:axPos val="b"/>
        <c:numFmt formatCode="General" sourceLinked="1"/>
        <c:majorTickMark val="out"/>
        <c:minorTickMark val="none"/>
        <c:tickLblPos val="nextTo"/>
        <c:crossAx val="1709822960"/>
        <c:crosses val="autoZero"/>
        <c:auto val="1"/>
        <c:lblAlgn val="ctr"/>
        <c:lblOffset val="100"/>
        <c:noMultiLvlLbl val="0"/>
      </c:catAx>
      <c:spPr>
        <a:solidFill>
          <a:schemeClr val="lt1"/>
        </a:solidFill>
        <a:ln w="19050" cap="flat" cmpd="sng" algn="ctr">
          <a:solidFill>
            <a:schemeClr val="accent1"/>
          </a:solidFill>
          <a:prstDash val="solid"/>
          <a:miter lim="800000"/>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 ^0 ROFIT PERFORMANCE DASHBOARD.xlsx]Yearly Analysis!PivotTable4</c:name>
    <c:fmtId val="-1"/>
  </c:pivotSource>
  <c:chart>
    <c:title>
      <c:tx>
        <c:rich>
          <a:bodyPr rot="0" spcFirstLastPara="1" vertOverflow="ellipsis" vert="horz" wrap="square" anchor="ctr" anchorCtr="1"/>
          <a:lstStyle/>
          <a:p>
            <a:pPr algn="ctr">
              <a:defRPr sz="1400" b="1" i="0" u="none" strike="noStrike" kern="1200" spc="0" baseline="0">
                <a:solidFill>
                  <a:schemeClr val="tx1">
                    <a:lumMod val="65000"/>
                    <a:lumOff val="35000"/>
                  </a:schemeClr>
                </a:solidFill>
                <a:latin typeface="+mn-lt"/>
                <a:ea typeface="+mn-ea"/>
                <a:cs typeface="+mn-cs"/>
              </a:defRPr>
            </a:pPr>
            <a:r>
              <a:rPr lang="en-IN" sz="1400" b="1" i="0" u="none" strike="noStrike" baseline="0"/>
              <a:t>Yearly Sales &amp; Profit Trend</a:t>
            </a:r>
            <a:endParaRPr lang="en-IN" b="1"/>
          </a:p>
        </c:rich>
      </c:tx>
      <c:layout>
        <c:manualLayout>
          <c:xMode val="edge"/>
          <c:yMode val="edge"/>
          <c:x val="0.22123600676764063"/>
          <c:y val="5.9294131859613443E-2"/>
        </c:manualLayout>
      </c:layout>
      <c:overlay val="0"/>
      <c:spPr>
        <a:noFill/>
        <a:ln>
          <a:noFill/>
        </a:ln>
        <a:effectLst/>
      </c:spPr>
      <c:txPr>
        <a:bodyPr rot="0" spcFirstLastPara="1" vertOverflow="ellipsis" vert="horz" wrap="square" anchor="ctr" anchorCtr="1"/>
        <a:lstStyle/>
        <a:p>
          <a:pPr algn="ctr">
            <a:defRPr sz="1400" b="1"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'Yearly Analysis'!$B$3</c:f>
              <c:strCache>
                <c:ptCount val="1"/>
                <c:pt idx="0">
                  <c:v>Sales</c:v>
                </c:pt>
              </c:strCache>
            </c:strRef>
          </c:tx>
          <c:spPr>
            <a:ln w="19050" cap="flat" cmpd="sng" algn="ctr">
              <a:solidFill>
                <a:schemeClr val="accent1"/>
              </a:solidFill>
              <a:prstDash val="solid"/>
              <a:miter lim="800000"/>
            </a:ln>
            <a:effectLst/>
          </c:spPr>
          <c:marker>
            <c:symbol val="none"/>
          </c:marker>
          <c:cat>
            <c:strRef>
              <c:f>'Yearly Analysis'!$A$4:$A$8</c:f>
              <c:strCache>
                <c:ptCount val="4"/>
                <c:pt idx="0">
                  <c:v>2014</c:v>
                </c:pt>
                <c:pt idx="1">
                  <c:v>2015</c:v>
                </c:pt>
                <c:pt idx="2">
                  <c:v>2016</c:v>
                </c:pt>
                <c:pt idx="3">
                  <c:v>2017</c:v>
                </c:pt>
              </c:strCache>
            </c:strRef>
          </c:cat>
          <c:val>
            <c:numRef>
              <c:f>'Yearly Analysis'!$B$4:$B$8</c:f>
              <c:numCache>
                <c:formatCode>_-[$$-409]* #,##0.00_ ;_-[$$-409]* \-#,##0.00\ ;_-[$$-409]* "-"??_ ;_-@_ </c:formatCode>
                <c:ptCount val="4"/>
                <c:pt idx="0">
                  <c:v>484247.49810000096</c:v>
                </c:pt>
                <c:pt idx="1">
                  <c:v>470532.50899999985</c:v>
                </c:pt>
                <c:pt idx="2">
                  <c:v>609205.59800000081</c:v>
                </c:pt>
                <c:pt idx="3">
                  <c:v>733215.2551999999</c:v>
                </c:pt>
              </c:numCache>
            </c:numRef>
          </c:val>
          <c:smooth val="0"/>
          <c:extLst>
            <c:ext xmlns:c16="http://schemas.microsoft.com/office/drawing/2014/chart" uri="{C3380CC4-5D6E-409C-BE32-E72D297353CC}">
              <c16:uniqueId val="{00000000-1D50-4C94-97C4-DCA6D5309125}"/>
            </c:ext>
          </c:extLst>
        </c:ser>
        <c:dLbls>
          <c:showLegendKey val="0"/>
          <c:showVal val="0"/>
          <c:showCatName val="0"/>
          <c:showSerName val="0"/>
          <c:showPercent val="0"/>
          <c:showBubbleSize val="0"/>
        </c:dLbls>
        <c:marker val="1"/>
        <c:smooth val="0"/>
        <c:axId val="290270639"/>
        <c:axId val="116200399"/>
      </c:lineChart>
      <c:lineChart>
        <c:grouping val="standard"/>
        <c:varyColors val="0"/>
        <c:ser>
          <c:idx val="1"/>
          <c:order val="1"/>
          <c:tx>
            <c:strRef>
              <c:f>'Yearly Analysis'!$C$3</c:f>
              <c:strCache>
                <c:ptCount val="1"/>
                <c:pt idx="0">
                  <c:v>Profit</c:v>
                </c:pt>
              </c:strCache>
            </c:strRef>
          </c:tx>
          <c:spPr>
            <a:ln w="28575" cap="rnd">
              <a:solidFill>
                <a:schemeClr val="accent2"/>
              </a:solidFill>
              <a:round/>
            </a:ln>
            <a:effectLst/>
          </c:spPr>
          <c:marker>
            <c:symbol val="none"/>
          </c:marker>
          <c:cat>
            <c:strRef>
              <c:f>'Yearly Analysis'!$A$4:$A$8</c:f>
              <c:strCache>
                <c:ptCount val="4"/>
                <c:pt idx="0">
                  <c:v>2014</c:v>
                </c:pt>
                <c:pt idx="1">
                  <c:v>2015</c:v>
                </c:pt>
                <c:pt idx="2">
                  <c:v>2016</c:v>
                </c:pt>
                <c:pt idx="3">
                  <c:v>2017</c:v>
                </c:pt>
              </c:strCache>
            </c:strRef>
          </c:cat>
          <c:val>
            <c:numRef>
              <c:f>'Yearly Analysis'!$C$4:$C$8</c:f>
              <c:numCache>
                <c:formatCode>_-[$$-409]* #,##0.00_ ;_-[$$-409]* \-#,##0.00\ ;_-[$$-409]* "-"??_ ;_-@_ </c:formatCode>
                <c:ptCount val="4"/>
                <c:pt idx="0">
                  <c:v>49543.974100000007</c:v>
                </c:pt>
                <c:pt idx="1">
                  <c:v>61618.603700000051</c:v>
                </c:pt>
                <c:pt idx="2">
                  <c:v>81795.174300000188</c:v>
                </c:pt>
                <c:pt idx="3">
                  <c:v>93439.269599999971</c:v>
                </c:pt>
              </c:numCache>
            </c:numRef>
          </c:val>
          <c:smooth val="0"/>
          <c:extLst>
            <c:ext xmlns:c16="http://schemas.microsoft.com/office/drawing/2014/chart" uri="{C3380CC4-5D6E-409C-BE32-E72D297353CC}">
              <c16:uniqueId val="{00000001-1D50-4C94-97C4-DCA6D5309125}"/>
            </c:ext>
          </c:extLst>
        </c:ser>
        <c:dLbls>
          <c:showLegendKey val="0"/>
          <c:showVal val="0"/>
          <c:showCatName val="0"/>
          <c:showSerName val="0"/>
          <c:showPercent val="0"/>
          <c:showBubbleSize val="0"/>
        </c:dLbls>
        <c:marker val="1"/>
        <c:smooth val="0"/>
        <c:axId val="1103226944"/>
        <c:axId val="1139254864"/>
      </c:lineChart>
      <c:catAx>
        <c:axId val="2902706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200399"/>
        <c:crosses val="autoZero"/>
        <c:auto val="1"/>
        <c:lblAlgn val="ctr"/>
        <c:lblOffset val="100"/>
        <c:noMultiLvlLbl val="0"/>
      </c:catAx>
      <c:valAx>
        <c:axId val="116200399"/>
        <c:scaling>
          <c:orientation val="minMax"/>
        </c:scaling>
        <c:delete val="0"/>
        <c:axPos val="l"/>
        <c:numFmt formatCode="_-[$$-409]* #,##0.00_ ;_-[$$-409]* \-#,##0.00\ ;_-[$$-409]* &quot;-&quot;??_ ;_-@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0270639"/>
        <c:crosses val="autoZero"/>
        <c:crossBetween val="between"/>
      </c:valAx>
      <c:valAx>
        <c:axId val="1139254864"/>
        <c:scaling>
          <c:orientation val="minMax"/>
        </c:scaling>
        <c:delete val="0"/>
        <c:axPos val="r"/>
        <c:numFmt formatCode="_-[$$-409]* #,##0.00_ ;_-[$$-409]* \-#,##0.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03226944"/>
        <c:crosses val="max"/>
        <c:crossBetween val="between"/>
      </c:valAx>
      <c:catAx>
        <c:axId val="1103226944"/>
        <c:scaling>
          <c:orientation val="minMax"/>
        </c:scaling>
        <c:delete val="1"/>
        <c:axPos val="b"/>
        <c:numFmt formatCode="General" sourceLinked="1"/>
        <c:majorTickMark val="out"/>
        <c:minorTickMark val="none"/>
        <c:tickLblPos val="nextTo"/>
        <c:crossAx val="1139254864"/>
        <c:crosses val="autoZero"/>
        <c:auto val="1"/>
        <c:lblAlgn val="ctr"/>
        <c:lblOffset val="100"/>
        <c:noMultiLvlLbl val="0"/>
      </c:catAx>
      <c:spPr>
        <a:solidFill>
          <a:schemeClr val="lt1"/>
        </a:solidFill>
        <a:ln w="19050" cap="flat" cmpd="sng" algn="ctr">
          <a:solidFill>
            <a:schemeClr val="accent1"/>
          </a:solidFill>
          <a:prstDash val="solid"/>
          <a:miter lim="800000"/>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r>
              <a:rPr lang="en-IN" sz="1400" b="1" i="0" u="none" strike="noStrike" baseline="0" dirty="0"/>
              <a:t>Profit Margin by Discount Level</a:t>
            </a:r>
            <a:endParaRPr lang="en-IN" b="1" dirty="0"/>
          </a:p>
        </c:rich>
      </c:tx>
      <c:layout>
        <c:manualLayout>
          <c:xMode val="edge"/>
          <c:yMode val="edge"/>
          <c:x val="0.22904461392415024"/>
          <c:y val="6.583757613036853E-2"/>
        </c:manualLayout>
      </c:layout>
      <c:overlay val="0"/>
      <c:spPr>
        <a:noFill/>
        <a:ln>
          <a:noFill/>
        </a:ln>
        <a:effectLst/>
      </c:spPr>
      <c:txPr>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1"/>
          <c:order val="0"/>
          <c:tx>
            <c:strRef>
              <c:f>'[SALES ^0 ROFIT PERFORMANCE DASHBOARD.xlsx]Discount Analysis'!$H$3</c:f>
              <c:strCache>
                <c:ptCount val="1"/>
                <c:pt idx="0">
                  <c:v>Profit Margin</c:v>
                </c:pt>
              </c:strCache>
            </c:strRef>
          </c:tx>
          <c:spPr>
            <a:solidFill>
              <a:schemeClr val="accent1">
                <a:shade val="76000"/>
              </a:schemeClr>
            </a:solidFill>
            <a:ln>
              <a:noFill/>
            </a:ln>
            <a:effectLst/>
          </c:spPr>
          <c:invertIfNegative val="0"/>
          <c:cat>
            <c:numRef>
              <c:f>'[SALES ^0 ROFIT PERFORMANCE DASHBOARD.xlsx]Discount Analysis'!$G$4:$G$15</c:f>
              <c:numCache>
                <c:formatCode>0%</c:formatCode>
                <c:ptCount val="12"/>
                <c:pt idx="0">
                  <c:v>0</c:v>
                </c:pt>
                <c:pt idx="1">
                  <c:v>0.1</c:v>
                </c:pt>
                <c:pt idx="2">
                  <c:v>0.15</c:v>
                </c:pt>
                <c:pt idx="3">
                  <c:v>0.2</c:v>
                </c:pt>
                <c:pt idx="4">
                  <c:v>0.3</c:v>
                </c:pt>
                <c:pt idx="5">
                  <c:v>0.32</c:v>
                </c:pt>
                <c:pt idx="6">
                  <c:v>0.4</c:v>
                </c:pt>
                <c:pt idx="7">
                  <c:v>0.45</c:v>
                </c:pt>
                <c:pt idx="8">
                  <c:v>0.5</c:v>
                </c:pt>
                <c:pt idx="9">
                  <c:v>0.6</c:v>
                </c:pt>
                <c:pt idx="10">
                  <c:v>0.7</c:v>
                </c:pt>
                <c:pt idx="11">
                  <c:v>0.8</c:v>
                </c:pt>
              </c:numCache>
            </c:numRef>
          </c:cat>
          <c:val>
            <c:numRef>
              <c:f>'[SALES ^0 ROFIT PERFORMANCE DASHBOARD.xlsx]Discount Analysis'!$H$4:$H$15</c:f>
              <c:numCache>
                <c:formatCode>0%</c:formatCode>
                <c:ptCount val="12"/>
                <c:pt idx="0">
                  <c:v>0.29505019222803031</c:v>
                </c:pt>
                <c:pt idx="1">
                  <c:v>0.16607108295259942</c:v>
                </c:pt>
                <c:pt idx="2">
                  <c:v>5.1490117131283646E-2</c:v>
                </c:pt>
                <c:pt idx="3">
                  <c:v>0.11815062964209472</c:v>
                </c:pt>
                <c:pt idx="4">
                  <c:v>-0.10045154906937563</c:v>
                </c:pt>
                <c:pt idx="5">
                  <c:v>-0.16498047381208969</c:v>
                </c:pt>
                <c:pt idx="6">
                  <c:v>-0.19805436598930629</c:v>
                </c:pt>
                <c:pt idx="7">
                  <c:v>-0.45453471611715929</c:v>
                </c:pt>
                <c:pt idx="8">
                  <c:v>-0.34804711895440732</c:v>
                </c:pt>
                <c:pt idx="9">
                  <c:v>-0.89464613902809764</c:v>
                </c:pt>
                <c:pt idx="10">
                  <c:v>-0.98658490110925112</c:v>
                </c:pt>
                <c:pt idx="11">
                  <c:v>-1.8002522082963237</c:v>
                </c:pt>
              </c:numCache>
            </c:numRef>
          </c:val>
          <c:extLst>
            <c:ext xmlns:c16="http://schemas.microsoft.com/office/drawing/2014/chart" uri="{C3380CC4-5D6E-409C-BE32-E72D297353CC}">
              <c16:uniqueId val="{00000000-785C-4CB2-ACE9-21DFE1BFCFE2}"/>
            </c:ext>
          </c:extLst>
        </c:ser>
        <c:dLbls>
          <c:showLegendKey val="0"/>
          <c:showVal val="0"/>
          <c:showCatName val="0"/>
          <c:showSerName val="0"/>
          <c:showPercent val="0"/>
          <c:showBubbleSize val="0"/>
        </c:dLbls>
        <c:gapWidth val="219"/>
        <c:overlap val="-27"/>
        <c:axId val="974919600"/>
        <c:axId val="107566928"/>
      </c:barChart>
      <c:catAx>
        <c:axId val="974919600"/>
        <c:scaling>
          <c:orientation val="minMax"/>
        </c:scaling>
        <c:delete val="0"/>
        <c:axPos val="b"/>
        <c:numFmt formatCode="0%"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566928"/>
        <c:crosses val="autoZero"/>
        <c:auto val="1"/>
        <c:lblAlgn val="ctr"/>
        <c:lblOffset val="100"/>
        <c:noMultiLvlLbl val="0"/>
      </c:catAx>
      <c:valAx>
        <c:axId val="10756692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4919600"/>
        <c:crosses val="autoZero"/>
        <c:crossBetween val="between"/>
      </c:valAx>
      <c:spPr>
        <a:solidFill>
          <a:schemeClr val="lt1"/>
        </a:solidFill>
        <a:ln w="19050" cap="flat" cmpd="sng" algn="ctr">
          <a:solidFill>
            <a:schemeClr val="accent1"/>
          </a:solidFill>
          <a:prstDash val="solid"/>
          <a:miter lim="800000"/>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[SALES ^0 ROFIT PERFORMANCE DASHBOARD.xlsx]Top 5 State Analysis!PivotTable1</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dirty="0"/>
              <a:t>Top</a:t>
            </a:r>
            <a:r>
              <a:rPr lang="en-IN" b="1" baseline="0" dirty="0"/>
              <a:t> 5 States </a:t>
            </a:r>
            <a:r>
              <a:rPr lang="en-IN" sz="1400" b="1" i="0" u="none" strike="noStrike" baseline="0" dirty="0"/>
              <a:t>by Sales &amp; Profit</a:t>
            </a:r>
            <a:r>
              <a:rPr lang="en-IN" dirty="0"/>
              <a:t> </a:t>
            </a:r>
          </a:p>
        </c:rich>
      </c:tx>
      <c:layout>
        <c:manualLayout>
          <c:xMode val="edge"/>
          <c:yMode val="edge"/>
          <c:x val="0.25770314111988157"/>
          <c:y val="1.68497632155825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5913527658849955"/>
          <c:y val="0.12512587494417005"/>
          <c:w val="0.83175593247800383"/>
          <c:h val="0.78006536432452733"/>
        </c:manualLayout>
      </c:layout>
      <c:barChart>
        <c:barDir val="col"/>
        <c:grouping val="clustered"/>
        <c:varyColors val="0"/>
        <c:ser>
          <c:idx val="0"/>
          <c:order val="0"/>
          <c:tx>
            <c:strRef>
              <c:f>'Top 5 State Analysis'!$B$1</c:f>
              <c:strCache>
                <c:ptCount val="1"/>
                <c:pt idx="0">
                  <c:v> Sales</c:v>
                </c:pt>
              </c:strCache>
            </c:strRef>
          </c:tx>
          <c:spPr>
            <a:solidFill>
              <a:schemeClr val="accent1"/>
            </a:solidFill>
            <a:ln>
              <a:noFill/>
            </a:ln>
            <a:effectLst/>
          </c:spPr>
          <c:invertIfNegative val="0"/>
          <c:cat>
            <c:strRef>
              <c:f>'Top 5 State Analysis'!$A$2:$A$7</c:f>
              <c:strCache>
                <c:ptCount val="5"/>
                <c:pt idx="0">
                  <c:v>California</c:v>
                </c:pt>
                <c:pt idx="1">
                  <c:v>New York</c:v>
                </c:pt>
                <c:pt idx="2">
                  <c:v>Texas</c:v>
                </c:pt>
                <c:pt idx="3">
                  <c:v>Washington</c:v>
                </c:pt>
                <c:pt idx="4">
                  <c:v>Pennsylvania</c:v>
                </c:pt>
              </c:strCache>
            </c:strRef>
          </c:cat>
          <c:val>
            <c:numRef>
              <c:f>'Top 5 State Analysis'!$B$2:$B$7</c:f>
              <c:numCache>
                <c:formatCode>_-[$$-409]* #,##0.00_ ;_-[$$-409]* \-#,##0.00\ ;_-[$$-409]* "-"??_ ;_-@_ </c:formatCode>
                <c:ptCount val="5"/>
                <c:pt idx="0">
                  <c:v>457687.63150000101</c:v>
                </c:pt>
                <c:pt idx="1">
                  <c:v>310876.27099999978</c:v>
                </c:pt>
                <c:pt idx="2">
                  <c:v>170188.04580000002</c:v>
                </c:pt>
                <c:pt idx="3">
                  <c:v>138641.26999999993</c:v>
                </c:pt>
                <c:pt idx="4">
                  <c:v>116511.91400000003</c:v>
                </c:pt>
              </c:numCache>
            </c:numRef>
          </c:val>
          <c:extLst>
            <c:ext xmlns:c16="http://schemas.microsoft.com/office/drawing/2014/chart" uri="{C3380CC4-5D6E-409C-BE32-E72D297353CC}">
              <c16:uniqueId val="{00000000-A510-470C-9E3E-69D492353B9D}"/>
            </c:ext>
          </c:extLst>
        </c:ser>
        <c:dLbls>
          <c:showLegendKey val="0"/>
          <c:showVal val="0"/>
          <c:showCatName val="0"/>
          <c:showSerName val="0"/>
          <c:showPercent val="0"/>
          <c:showBubbleSize val="0"/>
        </c:dLbls>
        <c:gapWidth val="219"/>
        <c:axId val="1799559824"/>
        <c:axId val="1709723600"/>
      </c:barChart>
      <c:lineChart>
        <c:grouping val="standard"/>
        <c:varyColors val="0"/>
        <c:ser>
          <c:idx val="1"/>
          <c:order val="1"/>
          <c:tx>
            <c:strRef>
              <c:f>'Top 5 State Analysis'!$C$1</c:f>
              <c:strCache>
                <c:ptCount val="1"/>
                <c:pt idx="0">
                  <c:v>Profit</c:v>
                </c:pt>
              </c:strCache>
            </c:strRef>
          </c:tx>
          <c:spPr>
            <a:ln w="28575" cap="rnd">
              <a:solidFill>
                <a:schemeClr val="accent2"/>
              </a:solidFill>
              <a:round/>
            </a:ln>
            <a:effectLst/>
          </c:spPr>
          <c:marker>
            <c:symbol val="none"/>
          </c:marker>
          <c:cat>
            <c:strRef>
              <c:f>'Top 5 State Analysis'!$A$2:$A$7</c:f>
              <c:strCache>
                <c:ptCount val="5"/>
                <c:pt idx="0">
                  <c:v>California</c:v>
                </c:pt>
                <c:pt idx="1">
                  <c:v>New York</c:v>
                </c:pt>
                <c:pt idx="2">
                  <c:v>Texas</c:v>
                </c:pt>
                <c:pt idx="3">
                  <c:v>Washington</c:v>
                </c:pt>
                <c:pt idx="4">
                  <c:v>Pennsylvania</c:v>
                </c:pt>
              </c:strCache>
            </c:strRef>
          </c:cat>
          <c:val>
            <c:numRef>
              <c:f>'Top 5 State Analysis'!$C$2:$C$7</c:f>
              <c:numCache>
                <c:formatCode>_-[$$-409]* #,##0.00_ ;_-[$$-409]* \-#,##0.00\ ;_-[$$-409]* "-"??_ ;_-@_ </c:formatCode>
                <c:ptCount val="5"/>
                <c:pt idx="0">
                  <c:v>76381.387100000124</c:v>
                </c:pt>
                <c:pt idx="1">
                  <c:v>74038.548600000053</c:v>
                </c:pt>
                <c:pt idx="2">
                  <c:v>-25729.356300000014</c:v>
                </c:pt>
                <c:pt idx="3">
                  <c:v>33402.651699999988</c:v>
                </c:pt>
                <c:pt idx="4">
                  <c:v>-15559.960300000013</c:v>
                </c:pt>
              </c:numCache>
            </c:numRef>
          </c:val>
          <c:smooth val="0"/>
          <c:extLst>
            <c:ext xmlns:c16="http://schemas.microsoft.com/office/drawing/2014/chart" uri="{C3380CC4-5D6E-409C-BE32-E72D297353CC}">
              <c16:uniqueId val="{00000001-A510-470C-9E3E-69D492353B9D}"/>
            </c:ext>
          </c:extLst>
        </c:ser>
        <c:dLbls>
          <c:showLegendKey val="0"/>
          <c:showVal val="0"/>
          <c:showCatName val="0"/>
          <c:showSerName val="0"/>
          <c:showPercent val="0"/>
          <c:showBubbleSize val="0"/>
        </c:dLbls>
        <c:marker val="1"/>
        <c:smooth val="0"/>
        <c:axId val="1799549152"/>
        <c:axId val="1709734640"/>
      </c:lineChart>
      <c:catAx>
        <c:axId val="1799559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09723600"/>
        <c:crosses val="autoZero"/>
        <c:auto val="1"/>
        <c:lblAlgn val="ctr"/>
        <c:lblOffset val="100"/>
        <c:noMultiLvlLbl val="0"/>
      </c:catAx>
      <c:valAx>
        <c:axId val="1709723600"/>
        <c:scaling>
          <c:orientation val="minMax"/>
        </c:scaling>
        <c:delete val="0"/>
        <c:axPos val="l"/>
        <c:numFmt formatCode="_-[$$-409]* #,##0.00_ ;_-[$$-409]* \-#,##0.00\ ;_-[$$-409]* &quot;-&quot;??_ ;_-@_ " sourceLinked="1"/>
        <c:majorTickMark val="none"/>
        <c:minorTickMark val="none"/>
        <c:tickLblPos val="nextTo"/>
        <c:spPr>
          <a:noFill/>
          <a:ln w="12700" cap="flat" cmpd="sng" algn="ctr">
            <a:solidFill>
              <a:schemeClr val="accent1"/>
            </a:solidFill>
            <a:prstDash val="solid"/>
            <a:miter lim="800000"/>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799559824"/>
        <c:crosses val="autoZero"/>
        <c:crossBetween val="between"/>
      </c:valAx>
      <c:valAx>
        <c:axId val="1709734640"/>
        <c:scaling>
          <c:orientation val="minMax"/>
        </c:scaling>
        <c:delete val="0"/>
        <c:axPos val="r"/>
        <c:numFmt formatCode="_-[$$-409]* #,##0.00_ ;_-[$$-409]* \-#,##0.00\ ;_-[$$-409]* &quot;-&quot;??_ ;_-@_ "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9549152"/>
        <c:crosses val="max"/>
        <c:crossBetween val="between"/>
      </c:valAx>
      <c:catAx>
        <c:axId val="1799549152"/>
        <c:scaling>
          <c:orientation val="minMax"/>
        </c:scaling>
        <c:delete val="1"/>
        <c:axPos val="b"/>
        <c:numFmt formatCode="General" sourceLinked="1"/>
        <c:majorTickMark val="out"/>
        <c:minorTickMark val="none"/>
        <c:tickLblPos val="nextTo"/>
        <c:crossAx val="1709734640"/>
        <c:crosses val="autoZero"/>
        <c:auto val="1"/>
        <c:lblAlgn val="ctr"/>
        <c:lblOffset val="100"/>
        <c:noMultiLvlLbl val="0"/>
      </c:catAx>
      <c:spPr>
        <a:solidFill>
          <a:schemeClr val="lt1"/>
        </a:solidFill>
        <a:ln w="19050" cap="flat" cmpd="sng" algn="ctr">
          <a:solidFill>
            <a:schemeClr val="accent1"/>
          </a:solidFill>
          <a:prstDash val="solid"/>
          <a:miter lim="800000"/>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Reversed" id="21">
  <a:schemeClr val="accent1"/>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8A2340-E403-4B00-AE4F-5CB1CBBB2A70}" type="datetimeFigureOut">
              <a:rPr lang="en-IN" smtClean="0"/>
              <a:t>07-09-2026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22CEE-C63F-4FD5-934E-CE70F55C0EA9}" type="slidenum">
              <a:rPr lang="en-IN" smtClean="0"/>
              <a:t>‹#›</a:t>
            </a:fld>
            <a:endParaRPr lang="en-IN"/>
          </a:p>
        </p:txBody>
      </p:sp>
    </p:spTree>
    <p:extLst>
      <p:ext uri="{BB962C8B-B14F-4D97-AF65-F5344CB8AC3E}">
        <p14:creationId xmlns:p14="http://schemas.microsoft.com/office/powerpoint/2010/main" val="3880234214"/>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E22CEE-C63F-4FD5-934E-CE70F55C0EA9}" type="slidenum">
              <a:rPr lang="en-IN" smtClean="0"/>
              <a:t>2</a:t>
            </a:fld>
            <a:endParaRPr lang="en-IN"/>
          </a:p>
        </p:txBody>
      </p:sp>
    </p:spTree>
    <p:extLst>
      <p:ext uri="{BB962C8B-B14F-4D97-AF65-F5344CB8AC3E}">
        <p14:creationId xmlns:p14="http://schemas.microsoft.com/office/powerpoint/2010/main" val="3497906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C5A741-B8D6-4242-8382-892C3A08B561}"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2240352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C5A741-B8D6-4242-8382-892C3A08B561}"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3998215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C5A741-B8D6-4242-8382-892C3A08B561}"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395740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C5A741-B8D6-4242-8382-892C3A08B561}" type="datetimeFigureOut">
              <a:rPr lang="en-IN" smtClean="0"/>
              <a:t>07-09-2026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340178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C5A741-B8D6-4242-8382-892C3A08B561}" type="datetimeFigureOut">
              <a:rPr lang="en-IN" smtClean="0"/>
              <a:t>07-09-2026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80391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C5A741-B8D6-4242-8382-892C3A08B561}" type="datetimeFigureOut">
              <a:rPr lang="en-IN" smtClean="0"/>
              <a:t>07-09-2026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2746280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C5A741-B8D6-4242-8382-892C3A08B561}" type="datetimeFigureOut">
              <a:rPr lang="en-IN" smtClean="0"/>
              <a:t>07-09-2026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1966755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3C5A741-B8D6-4242-8382-892C3A08B561}" type="datetimeFigureOut">
              <a:rPr lang="en-IN" smtClean="0"/>
              <a:t>07-09-2026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45934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3C5A741-B8D6-4242-8382-892C3A08B561}" type="datetimeFigureOut">
              <a:rPr lang="en-IN" smtClean="0"/>
              <a:t>07-09-2026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2061462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C5A741-B8D6-4242-8382-892C3A08B561}"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504978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C5A741-B8D6-4242-8382-892C3A08B561}" type="datetimeFigureOut">
              <a:rPr lang="en-IN" smtClean="0"/>
              <a:t>07-09-2026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D4B89C-9656-4F54-B70B-F9968231DF30}" type="slidenum">
              <a:rPr lang="en-IN" smtClean="0"/>
              <a:t>‹#›</a:t>
            </a:fld>
            <a:endParaRPr lang="en-IN"/>
          </a:p>
        </p:txBody>
      </p:sp>
    </p:spTree>
    <p:extLst>
      <p:ext uri="{BB962C8B-B14F-4D97-AF65-F5344CB8AC3E}">
        <p14:creationId xmlns:p14="http://schemas.microsoft.com/office/powerpoint/2010/main" val="3135500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C3C5A741-B8D6-4242-8382-892C3A08B561}" type="datetimeFigureOut">
              <a:rPr lang="en-IN" smtClean="0"/>
              <a:t>07-09-2026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5BD4B89C-9656-4F54-B70B-F9968231DF30}" type="slidenum">
              <a:rPr lang="en-IN" smtClean="0"/>
              <a:t>‹#›</a:t>
            </a:fld>
            <a:endParaRPr lang="en-IN"/>
          </a:p>
        </p:txBody>
      </p:sp>
    </p:spTree>
    <p:extLst>
      <p:ext uri="{BB962C8B-B14F-4D97-AF65-F5344CB8AC3E}">
        <p14:creationId xmlns:p14="http://schemas.microsoft.com/office/powerpoint/2010/main" val="28514321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21C10-7D1A-6B0B-D403-802ADA2C74B0}"/>
              </a:ext>
            </a:extLst>
          </p:cNvPr>
          <p:cNvSpPr>
            <a:spLocks noGrp="1"/>
          </p:cNvSpPr>
          <p:nvPr>
            <p:ph type="ctrTitle"/>
          </p:nvPr>
        </p:nvSpPr>
        <p:spPr>
          <a:xfrm>
            <a:off x="1093304" y="46641"/>
            <a:ext cx="6848061" cy="430377"/>
          </a:xfrm>
          <a:ln>
            <a:solidFill>
              <a:schemeClr val="tx1"/>
            </a:solidFill>
          </a:ln>
        </p:spPr>
        <p:style>
          <a:lnRef idx="2">
            <a:schemeClr val="accent1"/>
          </a:lnRef>
          <a:fillRef idx="1">
            <a:schemeClr val="lt1"/>
          </a:fillRef>
          <a:effectRef idx="0">
            <a:schemeClr val="accent1"/>
          </a:effectRef>
          <a:fontRef idx="minor">
            <a:schemeClr val="dk1"/>
          </a:fontRef>
        </p:style>
        <p:txBody>
          <a:bodyPr>
            <a:normAutofit fontScale="90000"/>
          </a:bodyPr>
          <a:lstStyle/>
          <a:p>
            <a:r>
              <a:rPr lang="en-IN" sz="2800" b="1" dirty="0">
                <a:solidFill>
                  <a:schemeClr val="accent1">
                    <a:lumMod val="75000"/>
                  </a:schemeClr>
                </a:solidFill>
                <a:highlight>
                  <a:srgbClr val="C0C0C0"/>
                </a:highlight>
              </a:rPr>
              <a:t>SUPERSTORE SALES &amp; PROFIT PERFORMANCE</a:t>
            </a:r>
          </a:p>
        </p:txBody>
      </p:sp>
      <p:sp>
        <p:nvSpPr>
          <p:cNvPr id="4" name="Rectangle 3">
            <a:extLst>
              <a:ext uri="{FF2B5EF4-FFF2-40B4-BE49-F238E27FC236}">
                <a16:creationId xmlns:a16="http://schemas.microsoft.com/office/drawing/2014/main" id="{995DFF65-2EB3-B233-8631-98C588F86FDA}"/>
              </a:ext>
            </a:extLst>
          </p:cNvPr>
          <p:cNvSpPr/>
          <p:nvPr/>
        </p:nvSpPr>
        <p:spPr>
          <a:xfrm>
            <a:off x="270832" y="553255"/>
            <a:ext cx="1267238" cy="611667"/>
          </a:xfrm>
          <a:prstGeom prst="rect">
            <a:avLst/>
          </a:prstGeom>
          <a:ln>
            <a:headEnd type="none" w="med" len="med"/>
            <a:tailEnd type="none" w="med" len="med"/>
          </a:ln>
          <a:effectLst>
            <a:outerShdw blurRad="50800" dist="38100" dir="2700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dirty="0"/>
              <a:t>Total Sales</a:t>
            </a:r>
          </a:p>
          <a:p>
            <a:pPr algn="ctr"/>
            <a:r>
              <a:rPr lang="en-US" dirty="0"/>
              <a:t>$2.30M</a:t>
            </a:r>
            <a:endParaRPr lang="en-IN" dirty="0"/>
          </a:p>
        </p:txBody>
      </p:sp>
      <p:sp>
        <p:nvSpPr>
          <p:cNvPr id="8" name="Rectangle 7">
            <a:extLst>
              <a:ext uri="{FF2B5EF4-FFF2-40B4-BE49-F238E27FC236}">
                <a16:creationId xmlns:a16="http://schemas.microsoft.com/office/drawing/2014/main" id="{FB446215-BC5B-B3CB-EC84-EE86DB9810AD}"/>
              </a:ext>
            </a:extLst>
          </p:cNvPr>
          <p:cNvSpPr/>
          <p:nvPr/>
        </p:nvSpPr>
        <p:spPr>
          <a:xfrm>
            <a:off x="2022610" y="526578"/>
            <a:ext cx="1267238" cy="611668"/>
          </a:xfrm>
          <a:prstGeom prst="rect">
            <a:avLst/>
          </a:prstGeom>
          <a:effectLst>
            <a:outerShdw blurRad="50800" dist="38100" dir="2700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dirty="0"/>
              <a:t>Total Profit</a:t>
            </a:r>
          </a:p>
          <a:p>
            <a:pPr algn="ctr"/>
            <a:r>
              <a:rPr lang="en-IN" dirty="0"/>
              <a:t>$286.40K</a:t>
            </a:r>
          </a:p>
        </p:txBody>
      </p:sp>
      <p:sp>
        <p:nvSpPr>
          <p:cNvPr id="13" name="Rectangle 12">
            <a:extLst>
              <a:ext uri="{FF2B5EF4-FFF2-40B4-BE49-F238E27FC236}">
                <a16:creationId xmlns:a16="http://schemas.microsoft.com/office/drawing/2014/main" id="{B51F6D92-06C8-6E24-430E-838FC6745A90}"/>
              </a:ext>
            </a:extLst>
          </p:cNvPr>
          <p:cNvSpPr/>
          <p:nvPr/>
        </p:nvSpPr>
        <p:spPr>
          <a:xfrm>
            <a:off x="3774388" y="521892"/>
            <a:ext cx="1267238" cy="611668"/>
          </a:xfrm>
          <a:prstGeom prst="rect">
            <a:avLst/>
          </a:prstGeom>
          <a:effectLst>
            <a:outerShdw blurRad="50800" dist="38100" dir="2700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dirty="0"/>
              <a:t>Profit Margin</a:t>
            </a:r>
          </a:p>
          <a:p>
            <a:pPr algn="ctr"/>
            <a:r>
              <a:rPr lang="en-US" dirty="0"/>
              <a:t>12.47%</a:t>
            </a:r>
            <a:endParaRPr lang="en-IN" dirty="0"/>
          </a:p>
        </p:txBody>
      </p:sp>
      <p:sp>
        <p:nvSpPr>
          <p:cNvPr id="14" name="Rectangle 13">
            <a:extLst>
              <a:ext uri="{FF2B5EF4-FFF2-40B4-BE49-F238E27FC236}">
                <a16:creationId xmlns:a16="http://schemas.microsoft.com/office/drawing/2014/main" id="{CC62DC82-D0C3-1428-622C-89CCA214F414}"/>
              </a:ext>
            </a:extLst>
          </p:cNvPr>
          <p:cNvSpPr/>
          <p:nvPr/>
        </p:nvSpPr>
        <p:spPr>
          <a:xfrm>
            <a:off x="5576147" y="524234"/>
            <a:ext cx="1197666" cy="611669"/>
          </a:xfrm>
          <a:prstGeom prst="rect">
            <a:avLst/>
          </a:prstGeom>
          <a:effectLst>
            <a:outerShdw blurRad="50800" dist="38100" dir="2700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dirty="0"/>
              <a:t>Total Orders</a:t>
            </a:r>
          </a:p>
          <a:p>
            <a:pPr algn="ctr"/>
            <a:r>
              <a:rPr lang="en-US" dirty="0"/>
              <a:t>5,009</a:t>
            </a:r>
            <a:endParaRPr lang="en-IN" dirty="0"/>
          </a:p>
        </p:txBody>
      </p:sp>
      <p:sp>
        <p:nvSpPr>
          <p:cNvPr id="15" name="Rectangle 14">
            <a:extLst>
              <a:ext uri="{FF2B5EF4-FFF2-40B4-BE49-F238E27FC236}">
                <a16:creationId xmlns:a16="http://schemas.microsoft.com/office/drawing/2014/main" id="{0595A04A-1B79-CA5A-1AB9-BB460CD68F0A}"/>
              </a:ext>
            </a:extLst>
          </p:cNvPr>
          <p:cNvSpPr/>
          <p:nvPr/>
        </p:nvSpPr>
        <p:spPr>
          <a:xfrm>
            <a:off x="7345311" y="521892"/>
            <a:ext cx="1267238" cy="616354"/>
          </a:xfrm>
          <a:prstGeom prst="rect">
            <a:avLst/>
          </a:prstGeom>
          <a:effectLst>
            <a:outerShdw blurRad="50800" dist="38100" dir="2700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200" dirty="0"/>
              <a:t>AVERAGE ORDER VALUE</a:t>
            </a:r>
            <a:endParaRPr lang="en-IN" sz="1200" b="1" dirty="0">
              <a:solidFill>
                <a:srgbClr val="000000"/>
              </a:solidFill>
              <a:latin typeface="Calibri" panose="020F0502020204030204" pitchFamily="34" charset="0"/>
            </a:endParaRPr>
          </a:p>
          <a:p>
            <a:pPr algn="ctr"/>
            <a:r>
              <a:rPr lang="en-IN" dirty="0"/>
              <a:t>$458.61</a:t>
            </a:r>
          </a:p>
        </p:txBody>
      </p:sp>
      <p:graphicFrame>
        <p:nvGraphicFramePr>
          <p:cNvPr id="20" name="Chart 19">
            <a:extLst>
              <a:ext uri="{FF2B5EF4-FFF2-40B4-BE49-F238E27FC236}">
                <a16:creationId xmlns:a16="http://schemas.microsoft.com/office/drawing/2014/main" id="{BF2EE6B9-CA23-4E3D-AA05-854C1E721ACD}"/>
              </a:ext>
            </a:extLst>
          </p:cNvPr>
          <p:cNvGraphicFramePr>
            <a:graphicFrameLocks/>
          </p:cNvGraphicFramePr>
          <p:nvPr>
            <p:extLst>
              <p:ext uri="{D42A27DB-BD31-4B8C-83A1-F6EECF244321}">
                <p14:modId xmlns:p14="http://schemas.microsoft.com/office/powerpoint/2010/main" val="4240346626"/>
              </p:ext>
            </p:extLst>
          </p:nvPr>
        </p:nvGraphicFramePr>
        <p:xfrm>
          <a:off x="4572000" y="1185462"/>
          <a:ext cx="4323525" cy="17217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 name="Chart 20">
            <a:extLst>
              <a:ext uri="{FF2B5EF4-FFF2-40B4-BE49-F238E27FC236}">
                <a16:creationId xmlns:a16="http://schemas.microsoft.com/office/drawing/2014/main" id="{63E0E383-49D8-4499-9D60-38410F45842D}"/>
              </a:ext>
            </a:extLst>
          </p:cNvPr>
          <p:cNvGraphicFramePr>
            <a:graphicFrameLocks/>
          </p:cNvGraphicFramePr>
          <p:nvPr>
            <p:extLst>
              <p:ext uri="{D42A27DB-BD31-4B8C-83A1-F6EECF244321}">
                <p14:modId xmlns:p14="http://schemas.microsoft.com/office/powerpoint/2010/main" val="1648974458"/>
              </p:ext>
            </p:extLst>
          </p:nvPr>
        </p:nvGraphicFramePr>
        <p:xfrm>
          <a:off x="208722" y="1204056"/>
          <a:ext cx="4184374" cy="17031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22">
            <a:extLst>
              <a:ext uri="{FF2B5EF4-FFF2-40B4-BE49-F238E27FC236}">
                <a16:creationId xmlns:a16="http://schemas.microsoft.com/office/drawing/2014/main" id="{22727AA3-9745-41F7-9AE1-DC1FE4BE3FDC}"/>
              </a:ext>
            </a:extLst>
          </p:cNvPr>
          <p:cNvGraphicFramePr>
            <a:graphicFrameLocks/>
          </p:cNvGraphicFramePr>
          <p:nvPr>
            <p:extLst>
              <p:ext uri="{D42A27DB-BD31-4B8C-83A1-F6EECF244321}">
                <p14:modId xmlns:p14="http://schemas.microsoft.com/office/powerpoint/2010/main" val="715706509"/>
              </p:ext>
            </p:extLst>
          </p:nvPr>
        </p:nvGraphicFramePr>
        <p:xfrm>
          <a:off x="208722" y="3011557"/>
          <a:ext cx="4184373" cy="209387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Chart 23">
            <a:extLst>
              <a:ext uri="{FF2B5EF4-FFF2-40B4-BE49-F238E27FC236}">
                <a16:creationId xmlns:a16="http://schemas.microsoft.com/office/drawing/2014/main" id="{1A537FC5-EB2C-4D33-AF63-1A22FFE597E8}"/>
              </a:ext>
            </a:extLst>
          </p:cNvPr>
          <p:cNvGraphicFramePr>
            <a:graphicFrameLocks/>
          </p:cNvGraphicFramePr>
          <p:nvPr>
            <p:extLst>
              <p:ext uri="{D42A27DB-BD31-4B8C-83A1-F6EECF244321}">
                <p14:modId xmlns:p14="http://schemas.microsoft.com/office/powerpoint/2010/main" val="1599329449"/>
              </p:ext>
            </p:extLst>
          </p:nvPr>
        </p:nvGraphicFramePr>
        <p:xfrm>
          <a:off x="4572000" y="3011557"/>
          <a:ext cx="4303939" cy="200251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61223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A9D99F77-3E58-464C-B0B8-559D24E52FA7}"/>
              </a:ext>
            </a:extLst>
          </p:cNvPr>
          <p:cNvGraphicFramePr>
            <a:graphicFrameLocks/>
          </p:cNvGraphicFramePr>
          <p:nvPr>
            <p:extLst>
              <p:ext uri="{D42A27DB-BD31-4B8C-83A1-F6EECF244321}">
                <p14:modId xmlns:p14="http://schemas.microsoft.com/office/powerpoint/2010/main" val="2192623960"/>
              </p:ext>
            </p:extLst>
          </p:nvPr>
        </p:nvGraphicFramePr>
        <p:xfrm>
          <a:off x="39369" y="493849"/>
          <a:ext cx="4900766" cy="19151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8">
            <a:extLst>
              <a:ext uri="{FF2B5EF4-FFF2-40B4-BE49-F238E27FC236}">
                <a16:creationId xmlns:a16="http://schemas.microsoft.com/office/drawing/2014/main" id="{664892BC-E7F1-89D9-E91D-E953FA429D3A}"/>
              </a:ext>
            </a:extLst>
          </p:cNvPr>
          <p:cNvGraphicFramePr>
            <a:graphicFrameLocks noGrp="1"/>
          </p:cNvGraphicFramePr>
          <p:nvPr>
            <p:extLst>
              <p:ext uri="{D42A27DB-BD31-4B8C-83A1-F6EECF244321}">
                <p14:modId xmlns:p14="http://schemas.microsoft.com/office/powerpoint/2010/main" val="2559357258"/>
              </p:ext>
            </p:extLst>
          </p:nvPr>
        </p:nvGraphicFramePr>
        <p:xfrm>
          <a:off x="979004" y="-1"/>
          <a:ext cx="7071693" cy="385763"/>
        </p:xfrm>
        <a:graphic>
          <a:graphicData uri="http://schemas.openxmlformats.org/drawingml/2006/table">
            <a:tbl>
              <a:tblPr>
                <a:effectLst/>
                <a:tableStyleId>{5C22544A-7EE6-4342-B048-85BDC9FD1C3A}</a:tableStyleId>
              </a:tblPr>
              <a:tblGrid>
                <a:gridCol w="7071693">
                  <a:extLst>
                    <a:ext uri="{9D8B030D-6E8A-4147-A177-3AD203B41FA5}">
                      <a16:colId xmlns:a16="http://schemas.microsoft.com/office/drawing/2014/main" val="3640509481"/>
                    </a:ext>
                  </a:extLst>
                </a:gridCol>
              </a:tblGrid>
              <a:tr h="277307">
                <a:tc>
                  <a:txBody>
                    <a:bodyPr/>
                    <a:lstStyle/>
                    <a:p>
                      <a:pPr algn="ctr" fontAlgn="b">
                        <a:buNone/>
                      </a:pPr>
                      <a:r>
                        <a:rPr lang="en-IN" sz="2500" b="1" u="none" strike="noStrike" dirty="0">
                          <a:solidFill>
                            <a:schemeClr val="accent1">
                              <a:lumMod val="75000"/>
                            </a:schemeClr>
                          </a:solidFill>
                          <a:effectLst/>
                          <a:highlight>
                            <a:srgbClr val="C0C0C0"/>
                          </a:highlight>
                        </a:rPr>
                        <a:t>KEY BUSINESS </a:t>
                      </a:r>
                      <a:r>
                        <a:rPr lang="en-IN" sz="2400" b="1" u="none" strike="noStrike" dirty="0">
                          <a:solidFill>
                            <a:schemeClr val="accent1">
                              <a:lumMod val="75000"/>
                            </a:schemeClr>
                          </a:solidFill>
                          <a:effectLst/>
                          <a:highlight>
                            <a:srgbClr val="C0C0C0"/>
                          </a:highlight>
                        </a:rPr>
                        <a:t>INSIGHTS</a:t>
                      </a:r>
                      <a:r>
                        <a:rPr lang="en-IN" sz="2500" b="1" u="none" strike="noStrike" dirty="0">
                          <a:solidFill>
                            <a:schemeClr val="accent1">
                              <a:lumMod val="75000"/>
                            </a:schemeClr>
                          </a:solidFill>
                          <a:effectLst/>
                          <a:highlight>
                            <a:srgbClr val="C0C0C0"/>
                          </a:highlight>
                        </a:rPr>
                        <a:t> &amp; RECOMMENDATIONS</a:t>
                      </a:r>
                      <a:endParaRPr lang="en-IN" sz="2500" b="1" i="0" u="none" strike="noStrike" dirty="0">
                        <a:solidFill>
                          <a:schemeClr val="accent1">
                            <a:lumMod val="75000"/>
                          </a:schemeClr>
                        </a:solidFill>
                        <a:effectLst/>
                        <a:highlight>
                          <a:srgbClr val="C0C0C0"/>
                        </a:highlight>
                        <a:latin typeface="Calibri" panose="020F0502020204030204" pitchFamily="34" charset="0"/>
                      </a:endParaRPr>
                    </a:p>
                  </a:txBody>
                  <a:tcPr marL="4763" marR="4763" marT="476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9885283"/>
                  </a:ext>
                </a:extLst>
              </a:tr>
            </a:tbl>
          </a:graphicData>
        </a:graphic>
      </p:graphicFrame>
      <p:sp>
        <p:nvSpPr>
          <p:cNvPr id="10" name="Rectangle: Rounded Corners 9">
            <a:extLst>
              <a:ext uri="{FF2B5EF4-FFF2-40B4-BE49-F238E27FC236}">
                <a16:creationId xmlns:a16="http://schemas.microsoft.com/office/drawing/2014/main" id="{15D1F7B8-2448-68A7-CE0D-F7DA608965B0}"/>
              </a:ext>
            </a:extLst>
          </p:cNvPr>
          <p:cNvSpPr/>
          <p:nvPr/>
        </p:nvSpPr>
        <p:spPr>
          <a:xfrm>
            <a:off x="5014288" y="493849"/>
            <a:ext cx="3995531" cy="76531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accent1"/>
                </a:solidFill>
              </a:rPr>
              <a:t>01:</a:t>
            </a:r>
            <a:r>
              <a:rPr lang="en-IN" sz="1200" b="1" dirty="0">
                <a:solidFill>
                  <a:schemeClr val="accent1"/>
                </a:solidFill>
              </a:rPr>
              <a:t>CATEGORY</a:t>
            </a:r>
            <a:r>
              <a:rPr lang="en-IN" sz="1200" b="1" dirty="0">
                <a:solidFill>
                  <a:schemeClr val="accent1">
                    <a:lumMod val="75000"/>
                  </a:schemeClr>
                </a:solidFill>
              </a:rPr>
              <a:t> </a:t>
            </a:r>
            <a:r>
              <a:rPr lang="en-IN" sz="1200" b="1" dirty="0">
                <a:solidFill>
                  <a:schemeClr val="accent1"/>
                </a:solidFill>
              </a:rPr>
              <a:t>PERFORMANCE</a:t>
            </a:r>
            <a:r>
              <a:rPr lang="en-IN" sz="1200" dirty="0"/>
              <a:t>     </a:t>
            </a:r>
          </a:p>
          <a:p>
            <a:pPr algn="ctr"/>
            <a:r>
              <a:rPr lang="en-IN" sz="1200" dirty="0"/>
              <a:t>Technology is the highest-selling category, generating approximately </a:t>
            </a:r>
            <a:r>
              <a:rPr lang="en-IN" sz="1200" b="1" dirty="0">
                <a:solidFill>
                  <a:schemeClr val="accent2"/>
                </a:solidFill>
              </a:rPr>
              <a:t>$836,154 </a:t>
            </a:r>
            <a:r>
              <a:rPr lang="en-IN" sz="1200" dirty="0"/>
              <a:t>in sales</a:t>
            </a:r>
          </a:p>
        </p:txBody>
      </p:sp>
      <p:sp>
        <p:nvSpPr>
          <p:cNvPr id="2" name="Rectangle: Rounded Corners 1">
            <a:extLst>
              <a:ext uri="{FF2B5EF4-FFF2-40B4-BE49-F238E27FC236}">
                <a16:creationId xmlns:a16="http://schemas.microsoft.com/office/drawing/2014/main" id="{93CB692D-0DDD-95FA-890E-2D4C6D7E6982}"/>
              </a:ext>
            </a:extLst>
          </p:cNvPr>
          <p:cNvSpPr/>
          <p:nvPr/>
        </p:nvSpPr>
        <p:spPr>
          <a:xfrm>
            <a:off x="5014289" y="1367250"/>
            <a:ext cx="3995530" cy="76531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accent1"/>
                </a:solidFill>
              </a:rPr>
              <a:t>02.</a:t>
            </a:r>
            <a:r>
              <a:rPr lang="en-IN" sz="1200" b="1" dirty="0">
                <a:solidFill>
                  <a:schemeClr val="tx2">
                    <a:lumMod val="90000"/>
                    <a:lumOff val="10000"/>
                  </a:schemeClr>
                </a:solidFill>
              </a:rPr>
              <a:t> </a:t>
            </a:r>
            <a:r>
              <a:rPr lang="en-IN" sz="1200" b="1" dirty="0">
                <a:solidFill>
                  <a:schemeClr val="accent1"/>
                </a:solidFill>
              </a:rPr>
              <a:t>STATE</a:t>
            </a:r>
            <a:r>
              <a:rPr lang="en-IN" sz="1200" b="1" dirty="0">
                <a:solidFill>
                  <a:schemeClr val="tx2">
                    <a:lumMod val="90000"/>
                    <a:lumOff val="10000"/>
                  </a:schemeClr>
                </a:solidFill>
              </a:rPr>
              <a:t> </a:t>
            </a:r>
            <a:r>
              <a:rPr lang="en-IN" sz="1200" b="1" dirty="0">
                <a:solidFill>
                  <a:schemeClr val="accent1"/>
                </a:solidFill>
              </a:rPr>
              <a:t>PERFORMANCE</a:t>
            </a:r>
          </a:p>
          <a:p>
            <a:pPr algn="ctr"/>
            <a:r>
              <a:rPr lang="en-US" sz="1200" dirty="0"/>
              <a:t>California is the highest-selling state, generating approximately </a:t>
            </a:r>
            <a:r>
              <a:rPr lang="en-US" sz="1200" b="1" dirty="0">
                <a:solidFill>
                  <a:schemeClr val="accent2"/>
                </a:solidFill>
              </a:rPr>
              <a:t>$457,688 </a:t>
            </a:r>
            <a:r>
              <a:rPr lang="en-US" sz="1200" dirty="0"/>
              <a:t>in sales and</a:t>
            </a:r>
            <a:r>
              <a:rPr lang="en-US" sz="1200" b="1" dirty="0">
                <a:solidFill>
                  <a:schemeClr val="accent2"/>
                </a:solidFill>
              </a:rPr>
              <a:t> $76,381 </a:t>
            </a:r>
            <a:r>
              <a:rPr lang="en-US" sz="1200" dirty="0"/>
              <a:t>in profit.</a:t>
            </a:r>
            <a:endParaRPr lang="en-IN" sz="1200" dirty="0"/>
          </a:p>
        </p:txBody>
      </p:sp>
      <p:sp>
        <p:nvSpPr>
          <p:cNvPr id="6" name="Rectangle: Rounded Corners 5">
            <a:extLst>
              <a:ext uri="{FF2B5EF4-FFF2-40B4-BE49-F238E27FC236}">
                <a16:creationId xmlns:a16="http://schemas.microsoft.com/office/drawing/2014/main" id="{EFCF2AD9-3D8C-C26F-69BC-25E6028D4588}"/>
              </a:ext>
            </a:extLst>
          </p:cNvPr>
          <p:cNvSpPr/>
          <p:nvPr/>
        </p:nvSpPr>
        <p:spPr>
          <a:xfrm>
            <a:off x="5014290" y="2217870"/>
            <a:ext cx="3995529" cy="68138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b="1" dirty="0">
                <a:solidFill>
                  <a:schemeClr val="accent1"/>
                </a:solidFill>
              </a:rPr>
              <a:t>03. YEARLY PERFORMANCE     </a:t>
            </a:r>
          </a:p>
          <a:p>
            <a:pPr algn="ctr"/>
            <a:r>
              <a:rPr lang="en-IN" sz="1200" b="1" dirty="0">
                <a:solidFill>
                  <a:schemeClr val="accent2"/>
                </a:solidFill>
              </a:rPr>
              <a:t> </a:t>
            </a:r>
            <a:r>
              <a:rPr lang="en-US" sz="1200" b="1" dirty="0">
                <a:solidFill>
                  <a:schemeClr val="accent2"/>
                </a:solidFill>
              </a:rPr>
              <a:t>2017 </a:t>
            </a:r>
            <a:r>
              <a:rPr lang="en-US" sz="1200" dirty="0"/>
              <a:t>was the strongest year, recording approximately </a:t>
            </a:r>
            <a:r>
              <a:rPr lang="en-US" sz="1200" b="1" dirty="0">
                <a:solidFill>
                  <a:schemeClr val="accent2"/>
                </a:solidFill>
              </a:rPr>
              <a:t>$733,215 </a:t>
            </a:r>
            <a:r>
              <a:rPr lang="en-US" sz="1200" dirty="0"/>
              <a:t>in sales and</a:t>
            </a:r>
            <a:r>
              <a:rPr lang="en-US" sz="1200" b="1" dirty="0">
                <a:solidFill>
                  <a:schemeClr val="accent2"/>
                </a:solidFill>
              </a:rPr>
              <a:t> $93,439 </a:t>
            </a:r>
            <a:r>
              <a:rPr lang="en-US" sz="1200" dirty="0"/>
              <a:t>in profit.</a:t>
            </a:r>
            <a:endParaRPr lang="en-IN" sz="1200" dirty="0"/>
          </a:p>
        </p:txBody>
      </p:sp>
      <p:sp>
        <p:nvSpPr>
          <p:cNvPr id="13" name="Rectangle: Rounded Corners 12">
            <a:extLst>
              <a:ext uri="{FF2B5EF4-FFF2-40B4-BE49-F238E27FC236}">
                <a16:creationId xmlns:a16="http://schemas.microsoft.com/office/drawing/2014/main" id="{EA31074B-B34E-B7CA-40D9-8F6FCE3C3D33}"/>
              </a:ext>
            </a:extLst>
          </p:cNvPr>
          <p:cNvSpPr/>
          <p:nvPr/>
        </p:nvSpPr>
        <p:spPr>
          <a:xfrm>
            <a:off x="5014290" y="2983943"/>
            <a:ext cx="3995529" cy="88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b="1" dirty="0">
                <a:solidFill>
                  <a:schemeClr val="accent1"/>
                </a:solidFill>
              </a:rPr>
              <a:t>04. PROFITABILITY</a:t>
            </a:r>
          </a:p>
          <a:p>
            <a:pPr algn="ctr"/>
            <a:r>
              <a:rPr lang="en-IN" sz="1400" dirty="0"/>
              <a:t>    </a:t>
            </a:r>
            <a:r>
              <a:rPr lang="en-IN" sz="1400" b="1" dirty="0">
                <a:solidFill>
                  <a:schemeClr val="accent2"/>
                </a:solidFill>
              </a:rPr>
              <a:t> </a:t>
            </a:r>
            <a:r>
              <a:rPr lang="en-US" sz="1200" dirty="0">
                <a:solidFill>
                  <a:schemeClr val="tx1"/>
                </a:solidFill>
              </a:rPr>
              <a:t>Texas generated approximately </a:t>
            </a:r>
            <a:r>
              <a:rPr lang="en-US" sz="1200" b="1" dirty="0">
                <a:solidFill>
                  <a:schemeClr val="accent2"/>
                </a:solidFill>
              </a:rPr>
              <a:t>$170,188 </a:t>
            </a:r>
            <a:r>
              <a:rPr lang="en-US" sz="1200" dirty="0">
                <a:solidFill>
                  <a:schemeClr val="tx1"/>
                </a:solidFill>
              </a:rPr>
              <a:t>in sales but recorded a loss of </a:t>
            </a:r>
            <a:r>
              <a:rPr lang="en-US" sz="1200" b="1" dirty="0">
                <a:solidFill>
                  <a:schemeClr val="accent2"/>
                </a:solidFill>
              </a:rPr>
              <a:t>$25,729</a:t>
            </a:r>
            <a:r>
              <a:rPr lang="en-US" sz="1200" dirty="0">
                <a:solidFill>
                  <a:schemeClr val="tx1"/>
                </a:solidFill>
              </a:rPr>
              <a:t>, indicating that high sales do not necessarily result in profitability.</a:t>
            </a:r>
            <a:endParaRPr lang="en-IN" sz="1200" dirty="0">
              <a:solidFill>
                <a:schemeClr val="tx1"/>
              </a:solidFill>
            </a:endParaRPr>
          </a:p>
        </p:txBody>
      </p:sp>
      <p:sp>
        <p:nvSpPr>
          <p:cNvPr id="17" name="Rectangle: Rounded Corners 16">
            <a:extLst>
              <a:ext uri="{FF2B5EF4-FFF2-40B4-BE49-F238E27FC236}">
                <a16:creationId xmlns:a16="http://schemas.microsoft.com/office/drawing/2014/main" id="{42A22BD3-7781-BC42-6483-C7E6F7B79C02}"/>
              </a:ext>
            </a:extLst>
          </p:cNvPr>
          <p:cNvSpPr/>
          <p:nvPr/>
        </p:nvSpPr>
        <p:spPr>
          <a:xfrm>
            <a:off x="5014288" y="3950803"/>
            <a:ext cx="4040260" cy="106348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b="1" dirty="0">
                <a:solidFill>
                  <a:schemeClr val="accent1"/>
                </a:solidFill>
              </a:rPr>
              <a:t>05 FURNITURE PROFITABILITY     </a:t>
            </a:r>
          </a:p>
          <a:p>
            <a:pPr algn="ctr"/>
            <a:r>
              <a:rPr lang="en-US" sz="1200" dirty="0"/>
              <a:t>Furniture generated approximately </a:t>
            </a:r>
            <a:r>
              <a:rPr lang="en-US" sz="1200" b="1" dirty="0">
                <a:solidFill>
                  <a:schemeClr val="accent2"/>
                </a:solidFill>
              </a:rPr>
              <a:t>$742K </a:t>
            </a:r>
            <a:r>
              <a:rPr lang="en-US" sz="1200" dirty="0"/>
              <a:t>in sales but had a relatively low profit margin of </a:t>
            </a:r>
            <a:r>
              <a:rPr lang="en-US" sz="1200" b="1" dirty="0">
                <a:solidFill>
                  <a:schemeClr val="accent2"/>
                </a:solidFill>
              </a:rPr>
              <a:t>2.49%</a:t>
            </a:r>
            <a:r>
              <a:rPr lang="en-US" sz="1200" dirty="0">
                <a:solidFill>
                  <a:schemeClr val="tx1"/>
                </a:solidFill>
              </a:rPr>
              <a:t>,</a:t>
            </a:r>
            <a:r>
              <a:rPr lang="en-US" sz="1200" b="1" dirty="0">
                <a:solidFill>
                  <a:schemeClr val="accent2"/>
                </a:solidFill>
              </a:rPr>
              <a:t> </a:t>
            </a:r>
            <a:r>
              <a:rPr lang="en-US" sz="1200" dirty="0"/>
              <a:t>indicating that high sales volume does not always translate into strong profitability.</a:t>
            </a:r>
            <a:endParaRPr lang="en-IN" sz="1200" dirty="0"/>
          </a:p>
        </p:txBody>
      </p:sp>
      <p:graphicFrame>
        <p:nvGraphicFramePr>
          <p:cNvPr id="22" name="Table 21">
            <a:extLst>
              <a:ext uri="{FF2B5EF4-FFF2-40B4-BE49-F238E27FC236}">
                <a16:creationId xmlns:a16="http://schemas.microsoft.com/office/drawing/2014/main" id="{B1C91C56-F6B6-9BB2-110A-392832731320}"/>
              </a:ext>
            </a:extLst>
          </p:cNvPr>
          <p:cNvGraphicFramePr>
            <a:graphicFrameLocks noGrp="1"/>
          </p:cNvGraphicFramePr>
          <p:nvPr>
            <p:extLst>
              <p:ext uri="{D42A27DB-BD31-4B8C-83A1-F6EECF244321}">
                <p14:modId xmlns:p14="http://schemas.microsoft.com/office/powerpoint/2010/main" val="3294260300"/>
              </p:ext>
            </p:extLst>
          </p:nvPr>
        </p:nvGraphicFramePr>
        <p:xfrm>
          <a:off x="29430" y="2643249"/>
          <a:ext cx="4910705" cy="681389"/>
        </p:xfrm>
        <a:graphic>
          <a:graphicData uri="http://schemas.openxmlformats.org/drawingml/2006/table">
            <a:tbl>
              <a:tblPr>
                <a:effectLst>
                  <a:outerShdw blurRad="50800" dist="38100" dir="2700000" algn="tl" rotWithShape="0">
                    <a:prstClr val="black">
                      <a:alpha val="40000"/>
                    </a:prstClr>
                  </a:outerShdw>
                </a:effectLst>
                <a:tableStyleId>{5C22544A-7EE6-4342-B048-85BDC9FD1C3A}</a:tableStyleId>
              </a:tblPr>
              <a:tblGrid>
                <a:gridCol w="4910705">
                  <a:extLst>
                    <a:ext uri="{9D8B030D-6E8A-4147-A177-3AD203B41FA5}">
                      <a16:colId xmlns:a16="http://schemas.microsoft.com/office/drawing/2014/main" val="3269641538"/>
                    </a:ext>
                  </a:extLst>
                </a:gridCol>
              </a:tblGrid>
              <a:tr h="681389">
                <a:tc>
                  <a:txBody>
                    <a:bodyPr/>
                    <a:lstStyle/>
                    <a:p>
                      <a:pPr algn="l" fontAlgn="b">
                        <a:buNone/>
                      </a:pPr>
                      <a:r>
                        <a:rPr lang="en-IN" sz="1400" b="1" u="none" strike="noStrike" dirty="0">
                          <a:solidFill>
                            <a:schemeClr val="accent2"/>
                          </a:solidFill>
                          <a:effectLst/>
                        </a:rPr>
                        <a:t>Recommendation: </a:t>
                      </a:r>
                      <a:r>
                        <a:rPr lang="en-IN" sz="1400" u="none" strike="noStrike" dirty="0">
                          <a:effectLst/>
                        </a:rPr>
                        <a:t>Review pricing, discounting, and product-level profitability within the Furniture category to improve profit margins.</a:t>
                      </a:r>
                      <a:endParaRPr lang="en-IN" sz="1400" b="0" i="0" u="none" strike="noStrike" dirty="0">
                        <a:solidFill>
                          <a:srgbClr val="000000"/>
                        </a:solidFill>
                        <a:effectLst/>
                        <a:latin typeface="Calibri" panose="020F0502020204030204" pitchFamily="34" charset="0"/>
                      </a:endParaRPr>
                    </a:p>
                  </a:txBody>
                  <a:tcPr marL="2914" marR="2914" marT="2914" marB="0" anchor="b">
                    <a:solidFill>
                      <a:schemeClr val="bg1"/>
                    </a:solidFill>
                  </a:tcPr>
                </a:tc>
                <a:extLst>
                  <a:ext uri="{0D108BD9-81ED-4DB2-BD59-A6C34878D82A}">
                    <a16:rowId xmlns:a16="http://schemas.microsoft.com/office/drawing/2014/main" val="4153874546"/>
                  </a:ext>
                </a:extLst>
              </a:tr>
            </a:tbl>
          </a:graphicData>
        </a:graphic>
      </p:graphicFrame>
      <p:sp>
        <p:nvSpPr>
          <p:cNvPr id="24" name="TextBox 23">
            <a:extLst>
              <a:ext uri="{FF2B5EF4-FFF2-40B4-BE49-F238E27FC236}">
                <a16:creationId xmlns:a16="http://schemas.microsoft.com/office/drawing/2014/main" id="{75958FDF-0564-48C4-3E9B-CA72A16F5919}"/>
              </a:ext>
            </a:extLst>
          </p:cNvPr>
          <p:cNvSpPr txBox="1"/>
          <p:nvPr/>
        </p:nvSpPr>
        <p:spPr>
          <a:xfrm>
            <a:off x="14714" y="3653367"/>
            <a:ext cx="4940135" cy="1169551"/>
          </a:xfrm>
          <a:prstGeom prst="rect">
            <a:avLst/>
          </a:prstGeom>
          <a:noFill/>
          <a:ln>
            <a:solidFill>
              <a:schemeClr val="tx1"/>
            </a:solidFill>
          </a:ln>
          <a:effectLst/>
        </p:spPr>
        <p:txBody>
          <a:bodyPr wrap="square">
            <a:spAutoFit/>
          </a:bodyPr>
          <a:lstStyle/>
          <a:p>
            <a:pPr algn="just">
              <a:buNone/>
            </a:pPr>
            <a:r>
              <a:rPr lang="en-IN" sz="1400" b="1" dirty="0">
                <a:solidFill>
                  <a:schemeClr val="accent2"/>
                </a:solidFill>
              </a:rPr>
              <a:t>Conclusion: </a:t>
            </a:r>
            <a:r>
              <a:rPr lang="en-IN" sz="1400" dirty="0"/>
              <a:t>The analysis highlights strong sales performance in Technology, California, and 2017, while showing that high sales do not always lead to high profitability. Monitoring profit margins and discounts can help support better data-driven decisions.</a:t>
            </a:r>
          </a:p>
        </p:txBody>
      </p:sp>
    </p:spTree>
    <p:extLst>
      <p:ext uri="{BB962C8B-B14F-4D97-AF65-F5344CB8AC3E}">
        <p14:creationId xmlns:p14="http://schemas.microsoft.com/office/powerpoint/2010/main" val="18688947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195</TotalTime>
  <Words>242</Words>
  <Application>Microsoft Office PowerPoint</Application>
  <PresentationFormat>On-screen Show (16:9)</PresentationFormat>
  <Paragraphs>30</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Calibri</vt:lpstr>
      <vt:lpstr>Office Theme</vt:lpstr>
      <vt:lpstr>SUPERSTORE SALES &amp; PROFIT PERFORMANCE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Manasa A</dc:creator>
  <cp:lastModifiedBy>Manasa A</cp:lastModifiedBy>
  <cp:revision>1</cp:revision>
  <dcterms:created xsi:type="dcterms:W3CDTF">2026-09-04T13:36:05Z</dcterms:created>
  <dcterms:modified xsi:type="dcterms:W3CDTF">2026-09-07T12:21:55Z</dcterms:modified>
</cp:coreProperties>
</file>